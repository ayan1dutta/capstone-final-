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2C3E50"/>
                </a:solidFill>
                <a:latin typeface="Arial"/>
              </a:rPr>
              <a:t>Contribution Profit per Successful Txn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/ Txn ($)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3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A31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0.29</c:v>
                </c:pt>
                <c:pt idx="1">
                  <c:v>0.348</c:v>
                </c:pt>
                <c:pt idx="2">
                  <c:v>0.271</c:v>
                </c:pt>
                <c:pt idx="3">
                  <c:v>0.096</c:v>
                </c:pt>
                <c:pt idx="4">
                  <c:v>0.152</c:v>
                </c:pt>
                <c:pt idx="5">
                  <c:v>0.042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9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2C3E50"/>
                </a:solidFill>
                <a:latin typeface="Arial"/>
              </a:rPr>
              <a:t>Route R3 Share of Successful Volume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Route R3 Share of Volume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C0392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0.249</c:v>
                </c:pt>
                <c:pt idx="1">
                  <c:v>0.304</c:v>
                </c:pt>
                <c:pt idx="2">
                  <c:v>0.314</c:v>
                </c:pt>
                <c:pt idx="3">
                  <c:v>0.321</c:v>
                </c:pt>
                <c:pt idx="4">
                  <c:v>0.349</c:v>
                </c:pt>
                <c:pt idx="5">
                  <c:v>0.379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b="0" i="0" strike="noStrike" sz="900" u="none">
                  <a:solidFill>
                    <a:srgbClr val="C0392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FA0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AstraPay payment profitability diagnostic, Jan-Jun 2025. Five slides follow: Situation, Evidence, Diagnosis, 60-Day Plan, Risks.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Situation slide. Despite 62% volume growth, profit per successful transaction fell 85% — from $0.29 to $0.04. Four stakeholders gave four different explanations. This deck tells you which ones are correct and what to do about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slide. Profit per successful transaction peaked at $0.348 in February and collapsed to $0.042 by June. Route R3's share of volume grew from 24.9% to 37.9% while its fee rose 33% on 1 April. Mix-vs-rate decomposition: R3 explains 61.7% of the decline (rate effect -$0.171, mix effect +$0.032). R4 explains 22.5%. Chargeback cost doubled, concentrated in Electronics and Digital Goods.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Diagnosis slide. Two drivers confirmed: routing cost/mix (primary, 61.7%) and chargeback drift (secondary, Electronics/Digital Goods). Two claims weakened: fraud controls explain a volume problem but not per-transaction profit; pricing is a real but minor, narrow effect. The Risk Head's assumption — that fraud tightening explains falling profit per successful transaction — is the one stakeholder claim the data disproves.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60-day action plan. Action 1 and 2 address the primary driver (routing cost/mix) immediately. Action 3 fixes data trust so results can be measured. Action 4 addresses the secondary commercial driver (chargeback drift). Action 5 reviews the fraud model which is a real operational issue but the wrong explanation for the per-transaction profit KPI. Key caveat: the data pipeline fixes (Action 3) must happen in parallel or none of the other actions can be monitored with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0F2233"/>
          </a:solidFill>
          <a:ln/>
        </p:spPr>
      </p:sp>
      <p:sp>
        <p:nvSpPr>
          <p:cNvPr id="4" name="Shape 2"/>
          <p:cNvSpPr/>
          <p:nvPr/>
        </p:nvSpPr>
        <p:spPr>
          <a:xfrm>
            <a:off x="6748272" y="0"/>
            <a:ext cx="45720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47548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877824"/>
            <a:ext cx="5943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Profitability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487168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Recommendation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9077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Jun 2025  ·  India · Singapore · UAE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6400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2070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attempts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0116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5786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33832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CSVs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39502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" y="48463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Diagnostic period: 2025-01-01 to 2025-06-30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731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10896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is growing — profit per transaction is collapsing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1828800" cy="1115568"/>
          </a:xfrm>
          <a:prstGeom prst="rect">
            <a:avLst/>
          </a:prstGeom>
          <a:solidFill>
            <a:srgbClr val="E8EDF2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" y="1280160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+62%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47472" y="1719072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growth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7472" y="197510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→ Jun 2025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1170432"/>
            <a:ext cx="1828800" cy="1115568"/>
          </a:xfrm>
          <a:prstGeom prst="rect">
            <a:avLst/>
          </a:prstGeom>
          <a:solidFill>
            <a:srgbClr val="E8EDF2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59152" y="1280160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–85%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2359152" y="1719072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/ txn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359152" y="197510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$0.29 → $0.04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0" y="1170432"/>
            <a:ext cx="1828800" cy="1115568"/>
          </a:xfrm>
          <a:prstGeom prst="rect">
            <a:avLst/>
          </a:prstGeom>
          <a:solidFill>
            <a:srgbClr val="E8EDF2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70832" y="1280160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4370832" y="1719072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Unsettled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370832" y="197510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 transactions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1170432"/>
            <a:ext cx="1828800" cy="1115568"/>
          </a:xfrm>
          <a:prstGeom prst="rect">
            <a:avLst/>
          </a:prstGeom>
          <a:solidFill>
            <a:srgbClr val="E8EDF2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1280160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1719072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defects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82512" y="197510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Blocking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487168"/>
            <a:ext cx="8595360" cy="731520"/>
          </a:xfrm>
          <a:prstGeom prst="rect">
            <a:avLst/>
          </a:prstGeom>
          <a:solidFill>
            <a:srgbClr val="FFF8E6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487168"/>
            <a:ext cx="54864" cy="731520"/>
          </a:xfrm>
          <a:prstGeom prst="rect">
            <a:avLst/>
          </a:prstGeom>
          <a:solidFill>
            <a:srgbClr val="F4A31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38912" y="2560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paradox: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737360" y="2542032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customers paid AstraPay every month. More money moved. Yet contribution profit per successful transaction fell from $0.29 in January to $0.04 in June — an 85% collapse — driven by costs rising faster than revenue on the transactions that actually succeeded.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" y="340156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COMPETING HYPOTHESES — TESTED AGAINST THE DATA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621024"/>
            <a:ext cx="2084832" cy="1188720"/>
          </a:xfrm>
          <a:prstGeom prst="rect">
            <a:avLst/>
          </a:prstGeom>
          <a:solidFill>
            <a:srgbClr val="E8EDF2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621024"/>
            <a:ext cx="2084832" cy="54864"/>
          </a:xfrm>
          <a:prstGeom prst="rect">
            <a:avLst/>
          </a:prstGeom>
          <a:solidFill>
            <a:srgbClr val="F4A3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84048" y="3694176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84048" y="3895344"/>
            <a:ext cx="18653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pricing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87168" y="3621024"/>
            <a:ext cx="2084832" cy="1188720"/>
          </a:xfrm>
          <a:prstGeom prst="rect">
            <a:avLst/>
          </a:prstGeom>
          <a:solidFill>
            <a:srgbClr val="E8EDF2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87168" y="3621024"/>
            <a:ext cx="2084832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596896" y="3694176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Head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2596896" y="3895344"/>
            <a:ext cx="18653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costs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0016" y="3621024"/>
            <a:ext cx="2084832" cy="1188720"/>
          </a:xfrm>
          <a:prstGeom prst="rect">
            <a:avLst/>
          </a:prstGeom>
          <a:solidFill>
            <a:srgbClr val="E8EDF2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0016" y="3621024"/>
            <a:ext cx="2084832" cy="54864"/>
          </a:xfrm>
          <a:prstGeom prst="rect">
            <a:avLst/>
          </a:prstGeom>
          <a:solidFill>
            <a:srgbClr val="F4A31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809744" y="3694176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Head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809744" y="3895344"/>
            <a:ext cx="18653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controls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declines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12864" y="3621024"/>
            <a:ext cx="2084832" cy="1188720"/>
          </a:xfrm>
          <a:prstGeom prst="rect">
            <a:avLst/>
          </a:prstGeom>
          <a:solidFill>
            <a:srgbClr val="E8EDF2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12864" y="3621024"/>
            <a:ext cx="2084832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022592" y="3694176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Head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022592" y="3895344"/>
            <a:ext cx="18653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trusted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731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10896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R3 explains 62% of the profit decline — two compounding causes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115568"/>
          <a:ext cx="3931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389120" y="1115568"/>
          <a:ext cx="44805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274320" y="35661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THE MIX-VS-RATE DECOMPOSITION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274320" y="3767328"/>
            <a:ext cx="2788920" cy="1078992"/>
          </a:xfrm>
          <a:prstGeom prst="rect">
            <a:avLst/>
          </a:prstGeom>
          <a:solidFill>
            <a:srgbClr val="E8EDF2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74320" y="3767328"/>
            <a:ext cx="27889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84048" y="3840480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61.7%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385876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R3 (PayGlobal)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234440" y="4133088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1-Apr fee: 1.2% → 1.6%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growing volume share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27832" y="3767328"/>
            <a:ext cx="2788920" cy="1078992"/>
          </a:xfrm>
          <a:prstGeom prst="rect">
            <a:avLst/>
          </a:prstGeom>
          <a:solidFill>
            <a:srgbClr val="E8EDF2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27832" y="3767328"/>
            <a:ext cx="2788920" cy="54864"/>
          </a:xfrm>
          <a:prstGeom prst="rect">
            <a:avLst/>
          </a:prstGeom>
          <a:solidFill>
            <a:srgbClr val="F4A31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337560" y="3840480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22.5%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4187952" y="385876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R4 (LocalBank UAE)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187952" y="4133088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cost rising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R3 mix shifts UAE volume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181344" y="3767328"/>
            <a:ext cx="2788920" cy="1078992"/>
          </a:xfrm>
          <a:prstGeom prst="rect">
            <a:avLst/>
          </a:prstGeom>
          <a:solidFill>
            <a:srgbClr val="E8EDF2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81344" y="3767328"/>
            <a:ext cx="278892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291072" y="3840480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7141464" y="385876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 cost doubled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7141464" y="4133088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Digital Goods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$230 → Jun $580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731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10896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drivers confirmed. Two stakeholder claims do not hold for this KPI.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841248"/>
          </a:xfrm>
          <a:prstGeom prst="rect">
            <a:avLst/>
          </a:prstGeom>
          <a:solidFill>
            <a:srgbClr val="E8EDF2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0" y="1225296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008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94960" y="12252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— PRIMARY DRIVER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02336" y="11887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cost &amp; mix (Head of Payments)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02336" y="1481328"/>
            <a:ext cx="8357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R3 fee rose 33% on 1 Apr. R3 share of volume grew every month in all 3 countries. Together: 61.7% of the total profit decline. Two separable sub-causes: the fee increase (rate effect) and the mix shift (volume moving to the costlier route).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039112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0" y="2148840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00897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94960" y="2148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— SECONDARY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" y="211226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 drift — Electronics &amp; Digital Goods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" y="2404872"/>
            <a:ext cx="8357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 cost doubled Jan → Jun, concentrated in two merchant categories. Electronics explains 42.9% of the merchant-attributable decline. Independent of the routing story — needs its own remediation track.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62656"/>
            <a:ext cx="8595360" cy="841248"/>
          </a:xfrm>
          <a:prstGeom prst="rect">
            <a:avLst/>
          </a:prstGeom>
          <a:solidFill>
            <a:srgbClr val="E8EDF2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3072384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94960" y="30723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DISPROVED FOR THIS KPI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" y="303580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controls / false declines (Risk Head)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" y="3328416"/>
            <a:ext cx="8357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decline rate genuinely doubled (8.3% → 16.4%) — but successful High-risk transactions show no worse profit trend than any other tier. Fraud tightening is a volume/success-rate problem, not a profit-per-transaction problem. The Risk Head is right about the wrong KPI.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88620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3995928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F4A3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394960" y="3995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BUT MINOR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02336" y="395935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pricing (CFO)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02336" y="4251960"/>
            <a:ext cx="8357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Enterprise fee cut (2.6% → 1.5%, Feb 2025) is confirmed but too narrow to explain a 3-country, 6-month trend. No broader undocumented pricing erosion found.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731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ACTION PLAN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10896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actions — each with an owner, metric, and risk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969264"/>
            <a:ext cx="54864" cy="71323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Shape 5"/>
          <p:cNvSpPr/>
          <p:nvPr/>
        </p:nvSpPr>
        <p:spPr>
          <a:xfrm>
            <a:off x="301752" y="1115568"/>
            <a:ext cx="384048" cy="384048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1752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" y="1042416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0F22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10424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847088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or cap Route R3 (PayGlobal) variable fee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847088" y="12801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Head of Payments + CFO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1444752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Route R3 variable_fee_pct back to ≤1.2% OR R3 share &lt; 30%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53328" y="1005840"/>
            <a:ext cx="2852928" cy="640080"/>
          </a:xfrm>
          <a:prstGeom prst="rect">
            <a:avLst/>
          </a:prstGeom>
          <a:solidFill>
            <a:srgbClr val="0F22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26480" y="1060704"/>
            <a:ext cx="2706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4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PayGlobal may refuse; need backup route ready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1764792"/>
            <a:ext cx="54864" cy="71323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7" name="Shape 15"/>
          <p:cNvSpPr/>
          <p:nvPr/>
        </p:nvSpPr>
        <p:spPr>
          <a:xfrm>
            <a:off x="301752" y="1911096"/>
            <a:ext cx="384048" cy="384048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01752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8096" y="1837944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0F223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8096" y="18379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1–20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847088" y="18013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routing — shift 10–15% volume from R3 to R1/R2/R4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847088" y="207568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Head of Payments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847088" y="2240280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R3 share &lt; 30% of successful volume by Day 30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53328" y="1801368"/>
            <a:ext cx="2852928" cy="640080"/>
          </a:xfrm>
          <a:prstGeom prst="rect">
            <a:avLst/>
          </a:prstGeom>
          <a:solidFill>
            <a:srgbClr val="0F223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26480" y="1856232"/>
            <a:ext cx="2706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4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Lower-cost routes may have lower success rates — monitor closely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2560320"/>
            <a:ext cx="54864" cy="713232"/>
          </a:xfrm>
          <a:prstGeom prst="rect">
            <a:avLst/>
          </a:prstGeom>
          <a:solidFill>
            <a:srgbClr val="F4A31A"/>
          </a:solidFill>
          <a:ln/>
        </p:spPr>
      </p:sp>
      <p:sp>
        <p:nvSpPr>
          <p:cNvPr id="27" name="Shape 25"/>
          <p:cNvSpPr/>
          <p:nvPr/>
        </p:nvSpPr>
        <p:spPr>
          <a:xfrm>
            <a:off x="301752" y="2706624"/>
            <a:ext cx="384048" cy="384048"/>
          </a:xfrm>
          <a:prstGeom prst="ellipse">
            <a:avLst/>
          </a:prstGeom>
          <a:solidFill>
            <a:srgbClr val="F4A31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01752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8096" y="263347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0F223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8096" y="26334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1–45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847088" y="259689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8 blocking data pipeline defects (DQ report)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847088" y="28712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Data Head + Payments Engineering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847088" y="3035808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0 Blocking DQ defects in next monthly profile run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053328" y="2596896"/>
            <a:ext cx="2852928" cy="640080"/>
          </a:xfrm>
          <a:prstGeom prst="rect">
            <a:avLst/>
          </a:prstGeom>
          <a:solidFill>
            <a:srgbClr val="0F223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126480" y="2651760"/>
            <a:ext cx="2706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4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Engineering bandwidth; prioritise D09/D10/D16 first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3355848"/>
            <a:ext cx="54864" cy="713232"/>
          </a:xfrm>
          <a:prstGeom prst="rect">
            <a:avLst/>
          </a:prstGeom>
          <a:solidFill>
            <a:srgbClr val="F4A31A"/>
          </a:solidFill>
          <a:ln/>
        </p:spPr>
      </p:sp>
      <p:sp>
        <p:nvSpPr>
          <p:cNvPr id="37" name="Shape 35"/>
          <p:cNvSpPr/>
          <p:nvPr/>
        </p:nvSpPr>
        <p:spPr>
          <a:xfrm>
            <a:off x="301752" y="3502152"/>
            <a:ext cx="384048" cy="384048"/>
          </a:xfrm>
          <a:prstGeom prst="ellipse">
            <a:avLst/>
          </a:prstGeom>
          <a:solidFill>
            <a:srgbClr val="F4A31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01752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68096" y="342900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0F223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68096" y="3429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20–60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847088" y="339242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prevention programme for Electronics &amp; Digital Goods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847088" y="36667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Risk Head + Merchant Success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847088" y="383133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Chargeback rate for Electronics ≤ baseline (Jan 2025 level)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053328" y="3392424"/>
            <a:ext cx="2852928" cy="640080"/>
          </a:xfrm>
          <a:prstGeom prst="rect">
            <a:avLst/>
          </a:prstGeom>
          <a:solidFill>
            <a:srgbClr val="0F223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126480" y="3447288"/>
            <a:ext cx="2706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4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Chargebacks have 60-day lag — results visible in 90 days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28600" y="4151376"/>
            <a:ext cx="54864" cy="7132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7" name="Shape 45"/>
          <p:cNvSpPr/>
          <p:nvPr/>
        </p:nvSpPr>
        <p:spPr>
          <a:xfrm>
            <a:off x="301752" y="429768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01752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68096" y="4224528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0F2233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68096" y="42245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30–60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847088" y="41879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fraud model v4.0-beta; evaluate rollback for High-risk tier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847088" y="446227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Risk Head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1847088" y="4626864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High-risk decline rate returning to &lt;10% with no fraud rate increase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053328" y="4187952"/>
            <a:ext cx="2852928" cy="640080"/>
          </a:xfrm>
          <a:prstGeom prst="rect">
            <a:avLst/>
          </a:prstGeom>
          <a:solidFill>
            <a:srgbClr val="0F2233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126480" y="4242816"/>
            <a:ext cx="2706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4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Rolling back may increase actual fraud — needs A/B test not a full rollback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274320" y="48463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trust (DQ fixes) must be resolved before next reporting cycle — without it, none of these actions can be measured reliably.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2026-09-15T11:12:38Z</dcterms:created>
  <dcterms:modified xsi:type="dcterms:W3CDTF">2026-09-15T11:12:38Z</dcterms:modified>
</cp:coreProperties>
</file>