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8"/>
  </p:notesMasterIdLst>
  <p:sldIdLst>
    <p:sldId id="256" r:id="rId3"/>
    <p:sldId id="257" r:id="rId4"/>
    <p:sldId id="258" r:id="rId5"/>
    <p:sldId id="259" r:id="rId6"/>
    <p:sldId id="260" r:id="rId7"/>
  </p:sldIdLst>
  <p:sldSz cx="9144000" cy="5143500"/>
  <p:notesSz cx="5143500" cy="9144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2880"/>
        <p:guide pos="162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 /><Relationship Id="rId10" Type="http://schemas.openxmlformats.org/officeDocument/2006/relationships/tableStyles" Target="tableStyles.xml" /><Relationship Id="rId11" Type="http://schemas.openxmlformats.org/officeDocument/2006/relationships/viewProps" Target="viewProps.xml" 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 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 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roundedCorners val="1"/>
  <mc:AlternateContent>
    <mc:Choice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000" b="0" i="0" u="none" strike="noStrike">
                <a:solidFill>
                  <a:srgbClr val="2C3E50"/>
                </a:solidFill>
                <a:latin typeface="Arial"/>
              </a:defRPr>
            </a:pPr>
            <a:r>
              <a:rPr sz="1000" b="0" i="0" u="none" strike="noStrike">
                <a:solidFill>
                  <a:srgbClr val="2C3E50"/>
                </a:solidFill>
                <a:latin typeface="Arial"/>
              </a:rPr>
              <a:t>Contribution Profit per Successful Txn (USD)</a:t>
            </a:r>
            <a:endParaRPr/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Profit / Txn ($)</c:v>
                </c:pt>
              </c:strCache>
            </c:strRef>
          </c:tx>
          <c:spPr bwMode="auto">
            <a:prstGeom prst="rect">
              <a:avLst/>
            </a:prstGeom>
            <a:solidFill>
              <a:srgbClr val="00897B"/>
            </a:solidFill>
            <a:effectLst/>
          </c:spPr>
          <c:invertIfNegative val="0"/>
          <c:dPt>
            <c:idx val="0"/>
            <c:invertIfNegative val="0"/>
            <c:bubble3D val="0"/>
            <c:spPr bwMode="auto">
              <a:prstGeom prst="rect">
                <a:avLst/>
              </a:prstGeom>
              <a:solidFill>
                <a:srgbClr val="00897B"/>
              </a:solidFill>
              <a:effectLst/>
            </c:spPr>
          </c:dPt>
          <c:dPt>
            <c:idx val="1"/>
            <c:invertIfNegative val="0"/>
            <c:bubble3D val="0"/>
            <c:spPr bwMode="auto">
              <a:prstGeom prst="rect">
                <a:avLst/>
              </a:prstGeom>
              <a:solidFill>
                <a:srgbClr val="00897B"/>
              </a:solidFill>
              <a:effectLst/>
            </c:spPr>
          </c:dPt>
          <c:dPt>
            <c:idx val="2"/>
            <c:invertIfNegative val="0"/>
            <c:bubble3D val="0"/>
            <c:spPr bwMode="auto">
              <a:prstGeom prst="rect">
                <a:avLst/>
              </a:prstGeom>
              <a:solidFill>
                <a:srgbClr val="00897B"/>
              </a:solidFill>
              <a:effectLst/>
            </c:spPr>
          </c:dPt>
          <c:dPt>
            <c:idx val="3"/>
            <c:invertIfNegative val="0"/>
            <c:bubble3D val="0"/>
            <c:spPr bwMode="auto">
              <a:prstGeom prst="rect">
                <a:avLst/>
              </a:prstGeom>
              <a:solidFill>
                <a:srgbClr val="F4A31A"/>
              </a:solidFill>
              <a:effectLst/>
            </c:spPr>
          </c:dPt>
          <c:dPt>
            <c:idx val="4"/>
            <c:invertIfNegative val="0"/>
            <c:bubble3D val="0"/>
            <c:spPr bwMode="auto">
              <a:prstGeom prst="rect">
                <a:avLst/>
              </a:prstGeom>
              <a:solidFill>
                <a:srgbClr val="F4A31A"/>
              </a:solidFill>
              <a:effectLst/>
            </c:spPr>
          </c:dPt>
          <c:dPt>
            <c:idx val="5"/>
            <c:invertIfNegative val="0"/>
            <c:bubble3D val="0"/>
            <c:spPr bwMode="auto">
              <a:prstGeom prst="rect">
                <a:avLst/>
              </a:prstGeom>
              <a:solidFill>
                <a:srgbClr val="C0392B"/>
              </a:solidFill>
              <a:effectLst/>
            </c:spPr>
          </c:dPt>
          <c:dLbls>
            <c:numFmt formatCode="$0.00" sourceLinked="0"/>
            <c:showBubbleSize val="0"/>
            <c:showCatName val="0"/>
            <c:showLeaderLines val="0"/>
            <c:showLegendKey val="0"/>
            <c:showPercent val="0"/>
            <c:showSerName val="0"/>
            <c:showVal val="1"/>
            <c:txPr>
              <a:bodyPr/>
              <a:lstStyle/>
              <a:p>
                <a:pPr>
                  <a:defRPr sz="900" b="0" i="0" u="none" strike="noStrike">
                    <a:solidFill>
                      <a:srgbClr val="2C3E50"/>
                    </a:solidFill>
                    <a:latin typeface="Arial"/>
                  </a:defRPr>
                </a:pPr>
                <a:endParaRPr/>
              </a:p>
            </c:txPr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0.29</c:v>
                </c:pt>
                <c:pt idx="1">
                  <c:v>0.348</c:v>
                </c:pt>
                <c:pt idx="2">
                  <c:v>0.271</c:v>
                </c:pt>
                <c:pt idx="3">
                  <c:v>0.096</c:v>
                </c:pt>
                <c:pt idx="4">
                  <c:v>0.152</c:v>
                </c:pt>
                <c:pt idx="5">
                  <c:v>0.042</c:v>
                </c:pt>
              </c:numCache>
            </c:numRef>
          </c:val>
        </c:ser>
        <c:dLbls>
          <c:numFmt formatCode="$0.00" sourceLinked="0"/>
          <c:showBubbleSize val="0"/>
          <c:showCatName val="0"/>
          <c:showLeaderLines val="0"/>
          <c:showLegendKey val="0"/>
          <c:showPercent val="0"/>
          <c:showSerName val="0"/>
          <c:showVal val="1"/>
          <c:txPr>
            <a:bodyPr/>
            <a:lstStyle/>
            <a:p>
              <a:pPr>
                <a:defRPr sz="900" b="0" i="0" u="none" strike="noStrike">
                  <a:solidFill>
                    <a:srgbClr val="2C3E50"/>
                  </a:solidFill>
                  <a:latin typeface="Arial"/>
                </a:defRPr>
              </a:pPr>
              <a:endParaRPr/>
            </a:p>
          </c:txPr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C3E5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 bwMode="auto">
        <a:prstGeom prst="rect">
          <a:avLst/>
        </a:prstGeom>
        <a:noFill/>
        <a:ln>
          <a:noFill/>
        </a:ln>
        <a:effectLst/>
      </c:spPr>
    </c:plotArea>
    <c:plotVisOnly val="1"/>
    <c:dispBlanksAs val="span"/>
    <c:showDLblsOverMax val="0"/>
  </c:chart>
  <c:spPr bwMode="auto">
    <a:xfrm rot="0">
      <a:off x="274320" y="1115568"/>
      <a:ext cx="3931920" cy="2286000"/>
    </a:xfrm>
    <a:prstGeom prst="rect">
      <a:avLst/>
    </a:prstGeom>
    <a:noFill/>
    <a:ln>
      <a:noFill/>
    </a:ln>
    <a:effectLst/>
  </c:spPr>
  <c:externalData r:id="rId1">
    <c:autoUpdate val="1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roundedCorners val="1"/>
  <mc:AlternateContent>
    <mc:Choice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000" b="0" i="0" u="none" strike="noStrike">
                <a:solidFill>
                  <a:srgbClr val="2C3E50"/>
                </a:solidFill>
                <a:latin typeface="Arial"/>
              </a:defRPr>
            </a:pPr>
            <a:r>
              <a:rPr sz="1000" b="0" i="0" u="none" strike="noStrike">
                <a:solidFill>
                  <a:srgbClr val="2C3E50"/>
                </a:solidFill>
                <a:latin typeface="Arial"/>
              </a:rPr>
              <a:t>Route R3 Share of Successful Volume</a:t>
            </a:r>
            <a:endParaRPr/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Route R3 Share of Volume</c:v>
                </c:pt>
              </c:strCache>
            </c:strRef>
          </c:tx>
          <c:spPr bwMode="auto">
            <a:prstGeom prst="rect">
              <a:avLst/>
            </a:prstGeom>
            <a:solidFill>
              <a:srgbClr val="C0392B"/>
            </a:solidFill>
            <a:ln w="3175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6"/>
            <c:spPr bwMode="auto">
              <a:prstGeom prst="rect">
                <a:avLst/>
              </a:prstGeom>
              <a:solidFill>
                <a:srgbClr val="C0392B"/>
              </a:solidFill>
              <a:ln w="9525" cap="flat">
                <a:solidFill>
                  <a:srgbClr val="C0392B"/>
                </a:solidFill>
                <a:prstDash val="solid"/>
                <a:round/>
              </a:ln>
              <a:effectLst/>
            </c:spPr>
          </c:marker>
          <c:dLbls>
            <c:dLblPos val="t"/>
            <c:numFmt formatCode="0%" sourceLinked="0"/>
            <c:showBubbleSize val="0"/>
            <c:showCatName val="0"/>
            <c:showLeaderLines val="0"/>
            <c:showLegendKey val="0"/>
            <c:showPercent val="0"/>
            <c:showSerName val="0"/>
            <c:showVal val="1"/>
            <c:txPr>
              <a:bodyPr/>
              <a:lstStyle/>
              <a:p>
                <a:pPr>
                  <a:defRPr sz="900" b="0" i="0" u="none" strike="noStrike">
                    <a:solidFill>
                      <a:srgbClr val="C0392B"/>
                    </a:solidFill>
                    <a:latin typeface="Arial"/>
                  </a:defRPr>
                </a:pPr>
                <a:endParaRPr/>
              </a:p>
            </c:txPr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0.249</c:v>
                </c:pt>
                <c:pt idx="1">
                  <c:v>0.304</c:v>
                </c:pt>
                <c:pt idx="2">
                  <c:v>0.314</c:v>
                </c:pt>
                <c:pt idx="3">
                  <c:v>0.321</c:v>
                </c:pt>
                <c:pt idx="4">
                  <c:v>0.349</c:v>
                </c:pt>
                <c:pt idx="5">
                  <c:v>0.379</c:v>
                </c:pt>
              </c:numCache>
            </c:numRef>
          </c:val>
          <c:smooth val="0"/>
        </c:ser>
        <c:dLbls>
          <c:dLblPos val="t"/>
          <c:numFmt formatCode="0%" sourceLinked="0"/>
          <c:showBubbleSize val="0"/>
          <c:showCatName val="0"/>
          <c:showLeaderLines val="0"/>
          <c:showLegendKey val="0"/>
          <c:showPercent val="0"/>
          <c:showSerName val="0"/>
          <c:showVal val="1"/>
          <c:txPr>
            <a:bodyPr/>
            <a:lstStyle/>
            <a:p>
              <a:pPr>
                <a:defRPr sz="900" b="0" i="0" u="none" strike="noStrike">
                  <a:solidFill>
                    <a:srgbClr val="C0392B"/>
                  </a:solidFill>
                  <a:latin typeface="Arial"/>
                </a:defRPr>
              </a:pPr>
              <a:endParaRPr/>
            </a:p>
          </c:txPr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C3E5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 bwMode="auto">
            <a:prstGeom prst="rect">
              <a:avLst/>
            </a:prstGeom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8FA0A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 bwMode="auto">
        <a:prstGeom prst="rect">
          <a:avLst/>
        </a:prstGeom>
        <a:noFill/>
        <a:ln>
          <a:noFill/>
        </a:ln>
        <a:effectLst/>
      </c:spPr>
    </c:plotArea>
    <c:plotVisOnly val="1"/>
    <c:dispBlanksAs val="span"/>
    <c:showDLblsOverMax val="0"/>
  </c:chart>
  <c:spPr bwMode="auto">
    <a:xfrm rot="0">
      <a:off x="4389120" y="1115568"/>
      <a:ext cx="4480560" cy="2286000"/>
    </a:xfrm>
    <a:prstGeom prst="rect">
      <a:avLst/>
    </a:prstGeom>
    <a:noFill/>
    <a:ln>
      <a:noFill/>
    </a:ln>
    <a:effectLst/>
  </c:spPr>
  <c:externalData r:id="rId1">
    <c:autoUpdate val="1"/>
  </c:externalData>
</c:chartSpace>
</file>

<file path=ppt/embeddings/_rels/Microsoft_Excel_Worksheet1.xlsx.rels><?xml version="1.0" encoding="UTF-8" standalone="yes"?><Relationships xmlns="http://schemas.openxmlformats.org/package/2006/relationships"></Relationships>
</file>

<file path=ppt/embeddings/_rels/Microsoft_Excel_Worksheet2.xlsx.rels><?xml version="1.0" encoding="UTF-8" standalone="yes"?><Relationships xmlns="http://schemas.openxmlformats.org/package/2006/relationships"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662659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81168884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2083075262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815003876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12726150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7228286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477442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954954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Title slide. AstraPay payment profitability diagnostic, Jan-Jun 2025. Five slides follow: Situation, Evidence, Diagnosis, 60-Day Plan, Risks.</a:t>
            </a:r>
            <a:endParaRPr lang="en-US"/>
          </a:p>
        </p:txBody>
      </p:sp>
      <p:sp>
        <p:nvSpPr>
          <p:cNvPr id="15491574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321566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996677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Situation slide. Despite 62% volume growth, profit per successful transaction fell 85% — from $0.29 to $0.04. Four stakeholders gave four different explanations. This deck tells you which ones are correct and what to do about them.</a:t>
            </a:r>
            <a:endParaRPr lang="en-US"/>
          </a:p>
        </p:txBody>
      </p:sp>
      <p:sp>
        <p:nvSpPr>
          <p:cNvPr id="8373360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447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009949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Evidence slide. Profit per successful transaction peaked at $0.348 in February and collapsed to $0.042 by June. Route R3's share of volume grew from 24.9% to 37.9% while its fee rose 33% on 1 April. Mix-vs-rate decomposition: R3 explains 61.7% of the decline (rate effect -$0.171, mix effect +$0.032). R4 explains 22.5%. Chargeback cost doubled, concentrated in Electronics and Digital Goods.</a:t>
            </a:r>
            <a:endParaRPr lang="en-US"/>
          </a:p>
        </p:txBody>
      </p:sp>
      <p:sp>
        <p:nvSpPr>
          <p:cNvPr id="4310404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81425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170882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Diagnosis slide. Two drivers confirmed: routing cost/mix (primary, 61.7%) and chargeback drift (secondary, Electronics/Digital Goods). Two claims weakened: fraud controls explain a volume problem but not per-transaction profit; pricing is a real but minor, narrow effect. The Risk Head's assumption — that fraud tightening explains falling profit per successful transaction — is the one stakeholder claim the data disproves.</a:t>
            </a:r>
            <a:endParaRPr lang="en-US"/>
          </a:p>
        </p:txBody>
      </p:sp>
      <p:sp>
        <p:nvSpPr>
          <p:cNvPr id="13190378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20212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574731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60-day action plan. Action 1 and 2 address the primary driver (routing cost/mix) immediately. Action 3 fixes data trust so results can be measured. Action 4 addresses the secondary commercial driver (chargeback drift). Action 5 reviews the fraud model which is a real operational issue but the wrong explanation for the per-transaction profit KPI. Key caveat: the data pipeline fixes (Action 3) must happen in parallel or none of the other actions can be monitored with confidence.</a:t>
            </a:r>
            <a:endParaRPr lang="en-US"/>
          </a:p>
        </p:txBody>
      </p:sp>
      <p:sp>
        <p:nvSpPr>
          <p:cNvPr id="4324507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 /><Relationship Id="rId4" Type="http://schemas.openxmlformats.org/officeDocument/2006/relationships/chart" Target="../charts/chart2.xml" 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129145" name="Shape 0"/>
          <p:cNvSpPr/>
          <p:nvPr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1199059621" name="Shape 1"/>
          <p:cNvSpPr/>
          <p:nvPr/>
        </p:nvSpPr>
        <p:spPr bwMode="auto">
          <a:xfrm>
            <a:off x="6766560" y="0"/>
            <a:ext cx="2377440" cy="5143500"/>
          </a:xfrm>
          <a:prstGeom prst="rect">
            <a:avLst/>
          </a:prstGeom>
          <a:solidFill>
            <a:srgbClr val="0F2233"/>
          </a:solidFill>
          <a:ln/>
        </p:spPr>
      </p:sp>
      <p:sp>
        <p:nvSpPr>
          <p:cNvPr id="1740470895" name="Shape 2"/>
          <p:cNvSpPr/>
          <p:nvPr/>
        </p:nvSpPr>
        <p:spPr bwMode="auto">
          <a:xfrm>
            <a:off x="6748272" y="0"/>
            <a:ext cx="45720" cy="5143500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2018607044" name="Text 3"/>
          <p:cNvSpPr txBox="1"/>
          <p:nvPr/>
        </p:nvSpPr>
        <p:spPr bwMode="auto">
          <a:xfrm>
            <a:off x="502920" y="475488"/>
            <a:ext cx="5943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 spc="500">
                <a:solidFill>
                  <a:srgbClr val="00897B"/>
                </a:solidFill>
                <a:latin typeface="Calibri"/>
                <a:ea typeface="Calibri"/>
                <a:cs typeface="Calibri"/>
              </a:rPr>
              <a:t>ASTRAPAY</a:t>
            </a:r>
            <a:endParaRPr lang="en-US" sz="1100"/>
          </a:p>
        </p:txBody>
      </p:sp>
      <p:sp>
        <p:nvSpPr>
          <p:cNvPr id="1922756989" name="Text 4"/>
          <p:cNvSpPr txBox="1"/>
          <p:nvPr/>
        </p:nvSpPr>
        <p:spPr bwMode="auto">
          <a:xfrm>
            <a:off x="502920" y="877824"/>
            <a:ext cx="5943600" cy="15087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4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Payment Profitability</a:t>
            </a:r>
            <a:endParaRPr lang="en-US" sz="4400"/>
          </a:p>
          <a:p>
            <a:pPr marL="0" indent="0">
              <a:lnSpc>
                <a:spcPct val="110000"/>
              </a:lnSpc>
              <a:buNone/>
              <a:defRPr/>
            </a:pPr>
            <a:r>
              <a:rPr lang="en-US" sz="4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Diagnostic</a:t>
            </a:r>
            <a:endParaRPr lang="en-US" sz="4400"/>
          </a:p>
        </p:txBody>
      </p:sp>
      <p:sp>
        <p:nvSpPr>
          <p:cNvPr id="89660754" name="Text 5"/>
          <p:cNvSpPr txBox="1"/>
          <p:nvPr/>
        </p:nvSpPr>
        <p:spPr bwMode="auto">
          <a:xfrm>
            <a:off x="502920" y="2487168"/>
            <a:ext cx="5943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600">
                <a:solidFill>
                  <a:srgbClr val="00897B"/>
                </a:solidFill>
                <a:latin typeface="Cambria"/>
                <a:ea typeface="Cambria"/>
                <a:cs typeface="Cambria"/>
              </a:rPr>
              <a:t>Executive Recommendation</a:t>
            </a:r>
            <a:endParaRPr lang="en-US" sz="1600"/>
          </a:p>
        </p:txBody>
      </p:sp>
      <p:sp>
        <p:nvSpPr>
          <p:cNvPr id="1068263580" name="Text 6"/>
          <p:cNvSpPr txBox="1"/>
          <p:nvPr/>
        </p:nvSpPr>
        <p:spPr bwMode="auto">
          <a:xfrm>
            <a:off x="502920" y="2907792"/>
            <a:ext cx="5943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8FA0AF"/>
                </a:solidFill>
                <a:latin typeface="Calibri"/>
                <a:ea typeface="Calibri"/>
                <a:cs typeface="Calibri"/>
              </a:rPr>
              <a:t>Jan – Jun 2025  ·  India · Singapore · UAE</a:t>
            </a:r>
            <a:endParaRPr lang="en-US" sz="1100"/>
          </a:p>
        </p:txBody>
      </p:sp>
      <p:sp>
        <p:nvSpPr>
          <p:cNvPr id="601168649" name="Text 7"/>
          <p:cNvSpPr txBox="1"/>
          <p:nvPr/>
        </p:nvSpPr>
        <p:spPr bwMode="auto">
          <a:xfrm>
            <a:off x="6903720" y="64008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8,000</a:t>
            </a:r>
            <a:endParaRPr lang="en-US" sz="3000"/>
          </a:p>
        </p:txBody>
      </p:sp>
      <p:sp>
        <p:nvSpPr>
          <p:cNvPr id="1009005164" name="Text 8"/>
          <p:cNvSpPr txBox="1"/>
          <p:nvPr/>
        </p:nvSpPr>
        <p:spPr bwMode="auto">
          <a:xfrm>
            <a:off x="6903720" y="1207008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8FA0AF"/>
                </a:solidFill>
                <a:latin typeface="Calibri"/>
                <a:ea typeface="Calibri"/>
                <a:cs typeface="Calibri"/>
              </a:rPr>
              <a:t>Payment attempts</a:t>
            </a:r>
            <a:endParaRPr lang="en-US" sz="1000"/>
          </a:p>
        </p:txBody>
      </p:sp>
      <p:sp>
        <p:nvSpPr>
          <p:cNvPr id="19648917" name="Text 9"/>
          <p:cNvSpPr txBox="1"/>
          <p:nvPr/>
        </p:nvSpPr>
        <p:spPr bwMode="auto">
          <a:xfrm>
            <a:off x="6903720" y="201168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88%</a:t>
            </a:r>
            <a:endParaRPr lang="en-US" sz="3000"/>
          </a:p>
        </p:txBody>
      </p:sp>
      <p:sp>
        <p:nvSpPr>
          <p:cNvPr id="978961168" name="Text 10"/>
          <p:cNvSpPr txBox="1"/>
          <p:nvPr/>
        </p:nvSpPr>
        <p:spPr bwMode="auto">
          <a:xfrm>
            <a:off x="6903720" y="2578608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8FA0AF"/>
                </a:solidFill>
                <a:latin typeface="Calibri"/>
                <a:ea typeface="Calibri"/>
                <a:cs typeface="Calibri"/>
              </a:rPr>
              <a:t>Success rate</a:t>
            </a:r>
            <a:endParaRPr lang="en-US" sz="1000"/>
          </a:p>
        </p:txBody>
      </p:sp>
      <p:sp>
        <p:nvSpPr>
          <p:cNvPr id="567035293" name="Text 11"/>
          <p:cNvSpPr txBox="1"/>
          <p:nvPr/>
        </p:nvSpPr>
        <p:spPr bwMode="auto">
          <a:xfrm>
            <a:off x="6903720" y="338328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10 CSVs</a:t>
            </a:r>
            <a:endParaRPr lang="en-US" sz="3000"/>
          </a:p>
        </p:txBody>
      </p:sp>
      <p:sp>
        <p:nvSpPr>
          <p:cNvPr id="2121598474" name="Text 12"/>
          <p:cNvSpPr txBox="1"/>
          <p:nvPr/>
        </p:nvSpPr>
        <p:spPr bwMode="auto">
          <a:xfrm>
            <a:off x="6903720" y="3950208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8FA0AF"/>
                </a:solidFill>
                <a:latin typeface="Calibri"/>
                <a:ea typeface="Calibri"/>
                <a:cs typeface="Calibri"/>
              </a:rPr>
              <a:t>Data sources</a:t>
            </a:r>
            <a:endParaRPr lang="en-US" sz="1000"/>
          </a:p>
        </p:txBody>
      </p:sp>
      <p:sp>
        <p:nvSpPr>
          <p:cNvPr id="1348718488" name="Shape 13"/>
          <p:cNvSpPr/>
          <p:nvPr/>
        </p:nvSpPr>
        <p:spPr bwMode="auto">
          <a:xfrm>
            <a:off x="0" y="4828032"/>
            <a:ext cx="9144000" cy="310896"/>
          </a:xfrm>
          <a:prstGeom prst="rect">
            <a:avLst/>
          </a:prstGeom>
          <a:solidFill>
            <a:srgbClr val="060E18"/>
          </a:solidFill>
          <a:ln/>
        </p:spPr>
      </p:sp>
      <p:sp>
        <p:nvSpPr>
          <p:cNvPr id="1957968015" name="Text 14"/>
          <p:cNvSpPr txBox="1"/>
          <p:nvPr/>
        </p:nvSpPr>
        <p:spPr bwMode="auto">
          <a:xfrm>
            <a:off x="274320" y="4846320"/>
            <a:ext cx="8595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800">
                <a:solidFill>
                  <a:srgbClr val="8FA0AF"/>
                </a:solidFill>
                <a:latin typeface="Calibri"/>
                <a:ea typeface="Calibri"/>
                <a:cs typeface="Calibri"/>
              </a:rPr>
              <a:t>CONFIDENTIAL  ·  Diagnostic period: 2025-01-01 to 2025-06-30</a:t>
            </a:r>
            <a:endParaRPr lang="en-US" sz="8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36329" name="Shape 0"/>
          <p:cNvSpPr/>
          <p:nvPr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2748725" name="Shape 1"/>
          <p:cNvSpPr/>
          <p:nvPr/>
        </p:nvSpPr>
        <p:spPr bwMode="auto"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401376709" name="Text 2"/>
          <p:cNvSpPr txBox="1"/>
          <p:nvPr/>
        </p:nvSpPr>
        <p:spPr bwMode="auto">
          <a:xfrm>
            <a:off x="365760" y="73152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800" b="1" spc="300">
                <a:solidFill>
                  <a:srgbClr val="00897B"/>
                </a:solidFill>
                <a:latin typeface="Calibri"/>
                <a:ea typeface="Calibri"/>
                <a:cs typeface="Calibri"/>
              </a:rPr>
              <a:t>SITUATION</a:t>
            </a:r>
            <a:endParaRPr lang="en-US" sz="800"/>
          </a:p>
        </p:txBody>
      </p:sp>
      <p:sp>
        <p:nvSpPr>
          <p:cNvPr id="154874835" name="Text 3"/>
          <p:cNvSpPr txBox="1"/>
          <p:nvPr/>
        </p:nvSpPr>
        <p:spPr bwMode="auto">
          <a:xfrm>
            <a:off x="365760" y="310896"/>
            <a:ext cx="8412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Volume is growing — profit per transaction is collapsing</a:t>
            </a:r>
            <a:endParaRPr lang="en-US" sz="2200"/>
          </a:p>
        </p:txBody>
      </p:sp>
      <p:sp>
        <p:nvSpPr>
          <p:cNvPr id="1417254622" name="Shape 4"/>
          <p:cNvSpPr/>
          <p:nvPr/>
        </p:nvSpPr>
        <p:spPr bwMode="auto">
          <a:xfrm>
            <a:off x="274320" y="1170432"/>
            <a:ext cx="1828800" cy="1115568"/>
          </a:xfrm>
          <a:prstGeom prst="rect">
            <a:avLst/>
          </a:prstGeom>
          <a:solidFill>
            <a:srgbClr val="E8EDF2"/>
          </a:solidFill>
          <a:ln w="12700">
            <a:solidFill>
              <a:srgbClr val="D5DDE4"/>
            </a:solidFill>
            <a:prstDash val="solid"/>
          </a:ln>
        </p:spPr>
      </p:sp>
      <p:sp>
        <p:nvSpPr>
          <p:cNvPr id="310506218" name="Text 5"/>
          <p:cNvSpPr txBox="1"/>
          <p:nvPr/>
        </p:nvSpPr>
        <p:spPr bwMode="auto">
          <a:xfrm>
            <a:off x="347472" y="1280160"/>
            <a:ext cx="168249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400" b="1">
                <a:solidFill>
                  <a:srgbClr val="00897B"/>
                </a:solidFill>
                <a:latin typeface="Cambria"/>
                <a:ea typeface="Cambria"/>
                <a:cs typeface="Cambria"/>
              </a:rPr>
              <a:t>+62%</a:t>
            </a:r>
            <a:endParaRPr lang="en-US" sz="3400"/>
          </a:p>
        </p:txBody>
      </p:sp>
      <p:sp>
        <p:nvSpPr>
          <p:cNvPr id="8241707" name="Text 6"/>
          <p:cNvSpPr txBox="1"/>
          <p:nvPr/>
        </p:nvSpPr>
        <p:spPr bwMode="auto">
          <a:xfrm>
            <a:off x="347472" y="1719072"/>
            <a:ext cx="1682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Volume growth</a:t>
            </a:r>
            <a:endParaRPr lang="en-US" sz="1100"/>
          </a:p>
        </p:txBody>
      </p:sp>
      <p:sp>
        <p:nvSpPr>
          <p:cNvPr id="1980140960" name="Text 7"/>
          <p:cNvSpPr txBox="1"/>
          <p:nvPr/>
        </p:nvSpPr>
        <p:spPr bwMode="auto">
          <a:xfrm>
            <a:off x="347472" y="1975104"/>
            <a:ext cx="16824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8FA0AF"/>
                </a:solidFill>
                <a:latin typeface="Calibri"/>
                <a:ea typeface="Calibri"/>
                <a:cs typeface="Calibri"/>
              </a:rPr>
              <a:t>Jan → Jun 2025</a:t>
            </a:r>
            <a:endParaRPr lang="en-US" sz="900"/>
          </a:p>
        </p:txBody>
      </p:sp>
      <p:sp>
        <p:nvSpPr>
          <p:cNvPr id="99734351" name="Shape 8"/>
          <p:cNvSpPr/>
          <p:nvPr/>
        </p:nvSpPr>
        <p:spPr bwMode="auto">
          <a:xfrm>
            <a:off x="2286000" y="1170432"/>
            <a:ext cx="1828800" cy="1115568"/>
          </a:xfrm>
          <a:prstGeom prst="rect">
            <a:avLst/>
          </a:prstGeom>
          <a:solidFill>
            <a:srgbClr val="E8EDF2"/>
          </a:solidFill>
          <a:ln w="12700">
            <a:solidFill>
              <a:srgbClr val="D5DDE4"/>
            </a:solidFill>
            <a:prstDash val="solid"/>
          </a:ln>
        </p:spPr>
      </p:sp>
      <p:sp>
        <p:nvSpPr>
          <p:cNvPr id="817983473" name="Text 9"/>
          <p:cNvSpPr txBox="1"/>
          <p:nvPr/>
        </p:nvSpPr>
        <p:spPr bwMode="auto">
          <a:xfrm>
            <a:off x="2359152" y="1280160"/>
            <a:ext cx="168249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400" b="1">
                <a:solidFill>
                  <a:srgbClr val="C0392B"/>
                </a:solidFill>
                <a:latin typeface="Cambria"/>
                <a:ea typeface="Cambria"/>
                <a:cs typeface="Cambria"/>
              </a:rPr>
              <a:t>–85%</a:t>
            </a:r>
            <a:endParaRPr lang="en-US" sz="3400"/>
          </a:p>
        </p:txBody>
      </p:sp>
      <p:sp>
        <p:nvSpPr>
          <p:cNvPr id="1572143951" name="Text 10"/>
          <p:cNvSpPr txBox="1"/>
          <p:nvPr/>
        </p:nvSpPr>
        <p:spPr bwMode="auto">
          <a:xfrm>
            <a:off x="2359152" y="1719072"/>
            <a:ext cx="1682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Profit / txn</a:t>
            </a:r>
            <a:endParaRPr lang="en-US" sz="1100"/>
          </a:p>
        </p:txBody>
      </p:sp>
      <p:sp>
        <p:nvSpPr>
          <p:cNvPr id="2127001022" name="Text 11"/>
          <p:cNvSpPr txBox="1"/>
          <p:nvPr/>
        </p:nvSpPr>
        <p:spPr bwMode="auto">
          <a:xfrm>
            <a:off x="2359152" y="1975104"/>
            <a:ext cx="16824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8FA0AF"/>
                </a:solidFill>
                <a:latin typeface="Calibri"/>
                <a:ea typeface="Calibri"/>
                <a:cs typeface="Calibri"/>
              </a:rPr>
              <a:t>$0.29 → $0.04</a:t>
            </a:r>
            <a:endParaRPr lang="en-US" sz="900"/>
          </a:p>
        </p:txBody>
      </p:sp>
      <p:sp>
        <p:nvSpPr>
          <p:cNvPr id="74738280" name="Shape 12"/>
          <p:cNvSpPr/>
          <p:nvPr/>
        </p:nvSpPr>
        <p:spPr bwMode="auto">
          <a:xfrm>
            <a:off x="4297680" y="1170432"/>
            <a:ext cx="1828800" cy="1115568"/>
          </a:xfrm>
          <a:prstGeom prst="rect">
            <a:avLst/>
          </a:prstGeom>
          <a:solidFill>
            <a:srgbClr val="E8EDF2"/>
          </a:solidFill>
          <a:ln w="12700">
            <a:solidFill>
              <a:srgbClr val="D5DDE4"/>
            </a:solidFill>
            <a:prstDash val="solid"/>
          </a:ln>
        </p:spPr>
      </p:sp>
      <p:sp>
        <p:nvSpPr>
          <p:cNvPr id="1853351254" name="Text 13"/>
          <p:cNvSpPr txBox="1"/>
          <p:nvPr/>
        </p:nvSpPr>
        <p:spPr bwMode="auto">
          <a:xfrm>
            <a:off x="4370832" y="1280160"/>
            <a:ext cx="168249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400" b="1">
                <a:solidFill>
                  <a:srgbClr val="F4A31A"/>
                </a:solidFill>
                <a:latin typeface="Cambria"/>
                <a:ea typeface="Cambria"/>
                <a:cs typeface="Cambria"/>
              </a:rPr>
              <a:t>3.8%</a:t>
            </a:r>
            <a:endParaRPr lang="en-US" sz="3400"/>
          </a:p>
        </p:txBody>
      </p:sp>
      <p:sp>
        <p:nvSpPr>
          <p:cNvPr id="301412769" name="Text 14"/>
          <p:cNvSpPr txBox="1"/>
          <p:nvPr/>
        </p:nvSpPr>
        <p:spPr bwMode="auto">
          <a:xfrm>
            <a:off x="4370832" y="1719072"/>
            <a:ext cx="1682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Unsettled</a:t>
            </a:r>
            <a:endParaRPr lang="en-US" sz="1100"/>
          </a:p>
        </p:txBody>
      </p:sp>
      <p:sp>
        <p:nvSpPr>
          <p:cNvPr id="227779387" name="Text 15"/>
          <p:cNvSpPr txBox="1"/>
          <p:nvPr/>
        </p:nvSpPr>
        <p:spPr bwMode="auto">
          <a:xfrm>
            <a:off x="4370832" y="1975104"/>
            <a:ext cx="16824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8FA0AF"/>
                </a:solidFill>
                <a:latin typeface="Calibri"/>
                <a:ea typeface="Calibri"/>
                <a:cs typeface="Calibri"/>
              </a:rPr>
              <a:t>232 transactions</a:t>
            </a:r>
            <a:endParaRPr lang="en-US" sz="900"/>
          </a:p>
        </p:txBody>
      </p:sp>
      <p:sp>
        <p:nvSpPr>
          <p:cNvPr id="305912966" name="Shape 16"/>
          <p:cNvSpPr/>
          <p:nvPr/>
        </p:nvSpPr>
        <p:spPr bwMode="auto">
          <a:xfrm>
            <a:off x="6309360" y="1170432"/>
            <a:ext cx="1828800" cy="1115568"/>
          </a:xfrm>
          <a:prstGeom prst="rect">
            <a:avLst/>
          </a:prstGeom>
          <a:solidFill>
            <a:srgbClr val="E8EDF2"/>
          </a:solidFill>
          <a:ln w="12700">
            <a:solidFill>
              <a:srgbClr val="D5DDE4"/>
            </a:solidFill>
            <a:prstDash val="solid"/>
          </a:ln>
        </p:spPr>
      </p:sp>
      <p:sp>
        <p:nvSpPr>
          <p:cNvPr id="1515678250" name="Text 17"/>
          <p:cNvSpPr txBox="1"/>
          <p:nvPr/>
        </p:nvSpPr>
        <p:spPr bwMode="auto">
          <a:xfrm>
            <a:off x="6382512" y="1252728"/>
            <a:ext cx="168249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3400" b="1">
                <a:solidFill>
                  <a:srgbClr val="C0392B"/>
                </a:solidFill>
                <a:latin typeface="Cambria"/>
                <a:ea typeface="Cambria"/>
                <a:cs typeface="Cambria"/>
              </a:rPr>
              <a:t>10</a:t>
            </a:r>
            <a:endParaRPr lang="en-US" sz="3400"/>
          </a:p>
        </p:txBody>
      </p:sp>
      <p:sp>
        <p:nvSpPr>
          <p:cNvPr id="1377292446" name="Text 18"/>
          <p:cNvSpPr txBox="1"/>
          <p:nvPr/>
        </p:nvSpPr>
        <p:spPr bwMode="auto">
          <a:xfrm>
            <a:off x="6382512" y="1719072"/>
            <a:ext cx="1682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DQ defects</a:t>
            </a:r>
            <a:endParaRPr lang="en-US" sz="1100"/>
          </a:p>
        </p:txBody>
      </p:sp>
      <p:sp>
        <p:nvSpPr>
          <p:cNvPr id="1483892628" name="Text 19"/>
          <p:cNvSpPr txBox="1"/>
          <p:nvPr/>
        </p:nvSpPr>
        <p:spPr bwMode="auto">
          <a:xfrm>
            <a:off x="6382512" y="1975104"/>
            <a:ext cx="168249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8FA0AF"/>
                </a:solidFill>
                <a:latin typeface="Calibri"/>
                <a:ea typeface="Calibri"/>
                <a:cs typeface="Calibri"/>
              </a:rPr>
              <a:t>8 Blocking</a:t>
            </a:r>
            <a:endParaRPr lang="en-US" sz="900"/>
          </a:p>
        </p:txBody>
      </p:sp>
      <p:sp>
        <p:nvSpPr>
          <p:cNvPr id="93529243" name="Shape 20"/>
          <p:cNvSpPr/>
          <p:nvPr/>
        </p:nvSpPr>
        <p:spPr bwMode="auto">
          <a:xfrm>
            <a:off x="274320" y="2487168"/>
            <a:ext cx="8595360" cy="731520"/>
          </a:xfrm>
          <a:prstGeom prst="rect">
            <a:avLst/>
          </a:prstGeom>
          <a:solidFill>
            <a:srgbClr val="FFF8E6"/>
          </a:solidFill>
          <a:ln w="12700">
            <a:solidFill>
              <a:srgbClr val="D5DDE4"/>
            </a:solidFill>
            <a:prstDash val="solid"/>
          </a:ln>
        </p:spPr>
      </p:sp>
      <p:sp>
        <p:nvSpPr>
          <p:cNvPr id="614230330" name="Shape 21"/>
          <p:cNvSpPr/>
          <p:nvPr/>
        </p:nvSpPr>
        <p:spPr bwMode="auto">
          <a:xfrm>
            <a:off x="274320" y="2487168"/>
            <a:ext cx="54864" cy="731520"/>
          </a:xfrm>
          <a:prstGeom prst="rect">
            <a:avLst/>
          </a:prstGeom>
          <a:solidFill>
            <a:srgbClr val="F4A31A"/>
          </a:solidFill>
          <a:ln/>
        </p:spPr>
      </p:sp>
      <p:sp>
        <p:nvSpPr>
          <p:cNvPr id="1167601376" name="Text 22"/>
          <p:cNvSpPr txBox="1"/>
          <p:nvPr/>
        </p:nvSpPr>
        <p:spPr bwMode="auto">
          <a:xfrm>
            <a:off x="438912" y="25603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The paradox:</a:t>
            </a:r>
            <a:endParaRPr lang="en-US" sz="1100"/>
          </a:p>
        </p:txBody>
      </p:sp>
      <p:sp>
        <p:nvSpPr>
          <p:cNvPr id="937137542" name="Text 23"/>
          <p:cNvSpPr txBox="1"/>
          <p:nvPr/>
        </p:nvSpPr>
        <p:spPr bwMode="auto">
          <a:xfrm>
            <a:off x="1737360" y="2542032"/>
            <a:ext cx="70408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More customers paid AstraPay every month. More money moved. Yet contribution profit per successful transaction fell from $0.29 in January to $0.04 in June — an 85% collapse — driven by costs rising faster than revenue on the transactions that actually succeeded.</a:t>
            </a:r>
            <a:endParaRPr lang="en-US" sz="1100"/>
          </a:p>
        </p:txBody>
      </p:sp>
      <p:sp>
        <p:nvSpPr>
          <p:cNvPr id="775977444" name="Text 24"/>
          <p:cNvSpPr txBox="1"/>
          <p:nvPr/>
        </p:nvSpPr>
        <p:spPr bwMode="auto">
          <a:xfrm>
            <a:off x="274320" y="3401568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800" b="1" spc="200">
                <a:solidFill>
                  <a:srgbClr val="8FA0AF"/>
                </a:solidFill>
                <a:latin typeface="Calibri"/>
                <a:ea typeface="Calibri"/>
                <a:cs typeface="Calibri"/>
              </a:rPr>
              <a:t>FOUR COMPETING HYPOTHESES — TESTED AGAINST THE DATA</a:t>
            </a:r>
            <a:endParaRPr lang="en-US" sz="800"/>
          </a:p>
        </p:txBody>
      </p:sp>
      <p:sp>
        <p:nvSpPr>
          <p:cNvPr id="1569131857" name="Shape 25"/>
          <p:cNvSpPr/>
          <p:nvPr/>
        </p:nvSpPr>
        <p:spPr bwMode="auto">
          <a:xfrm>
            <a:off x="274320" y="3621024"/>
            <a:ext cx="2084832" cy="1188720"/>
          </a:xfrm>
          <a:prstGeom prst="rect">
            <a:avLst/>
          </a:prstGeom>
          <a:solidFill>
            <a:srgbClr val="E8EDF2"/>
          </a:solidFill>
          <a:ln w="12700">
            <a:solidFill>
              <a:srgbClr val="D5DDE4"/>
            </a:solidFill>
            <a:prstDash val="solid"/>
          </a:ln>
        </p:spPr>
      </p:sp>
      <p:sp>
        <p:nvSpPr>
          <p:cNvPr id="445070364" name="Shape 26"/>
          <p:cNvSpPr/>
          <p:nvPr/>
        </p:nvSpPr>
        <p:spPr bwMode="auto">
          <a:xfrm>
            <a:off x="274320" y="3621024"/>
            <a:ext cx="2084832" cy="54864"/>
          </a:xfrm>
          <a:prstGeom prst="rect">
            <a:avLst/>
          </a:prstGeom>
          <a:solidFill>
            <a:srgbClr val="F4A31A"/>
          </a:solidFill>
          <a:ln/>
        </p:spPr>
      </p:sp>
      <p:sp>
        <p:nvSpPr>
          <p:cNvPr id="1400829249" name="Text 27"/>
          <p:cNvSpPr txBox="1"/>
          <p:nvPr/>
        </p:nvSpPr>
        <p:spPr bwMode="auto">
          <a:xfrm>
            <a:off x="384048" y="3694176"/>
            <a:ext cx="18653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 b="1">
                <a:solidFill>
                  <a:srgbClr val="F4A31A"/>
                </a:solidFill>
                <a:latin typeface="Calibri"/>
                <a:ea typeface="Calibri"/>
                <a:cs typeface="Calibri"/>
              </a:rPr>
              <a:t>CFO</a:t>
            </a:r>
            <a:endParaRPr lang="en-US" sz="900"/>
          </a:p>
        </p:txBody>
      </p:sp>
      <p:sp>
        <p:nvSpPr>
          <p:cNvPr id="910284800" name="Text 28"/>
          <p:cNvSpPr txBox="1"/>
          <p:nvPr/>
        </p:nvSpPr>
        <p:spPr bwMode="auto">
          <a:xfrm>
            <a:off x="384048" y="3895343"/>
            <a:ext cx="186537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100" b="1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Merchant pricing</a:t>
            </a:r>
            <a:endParaRPr lang="en-US" sz="1100"/>
          </a:p>
          <a:p>
            <a:pPr marL="0" indent="0">
              <a:lnSpc>
                <a:spcPct val="110000"/>
              </a:lnSpc>
              <a:buNone/>
              <a:defRPr/>
            </a:pPr>
            <a:r>
              <a:rPr lang="en-US" sz="1100" b="1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eroded</a:t>
            </a:r>
            <a:endParaRPr lang="en-US" sz="1100"/>
          </a:p>
        </p:txBody>
      </p:sp>
      <p:sp>
        <p:nvSpPr>
          <p:cNvPr id="870004324" name="Shape 29"/>
          <p:cNvSpPr/>
          <p:nvPr/>
        </p:nvSpPr>
        <p:spPr bwMode="auto">
          <a:xfrm>
            <a:off x="2487168" y="3621024"/>
            <a:ext cx="2084832" cy="1188720"/>
          </a:xfrm>
          <a:prstGeom prst="rect">
            <a:avLst/>
          </a:prstGeom>
          <a:solidFill>
            <a:srgbClr val="E8EDF2"/>
          </a:solidFill>
          <a:ln w="12700">
            <a:solidFill>
              <a:srgbClr val="D5DDE4"/>
            </a:solidFill>
            <a:prstDash val="solid"/>
          </a:ln>
        </p:spPr>
      </p:sp>
      <p:sp>
        <p:nvSpPr>
          <p:cNvPr id="1202305704" name="Shape 30"/>
          <p:cNvSpPr/>
          <p:nvPr/>
        </p:nvSpPr>
        <p:spPr bwMode="auto">
          <a:xfrm>
            <a:off x="2487168" y="3621024"/>
            <a:ext cx="2084832" cy="54864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73287531" name="Text 31"/>
          <p:cNvSpPr txBox="1"/>
          <p:nvPr/>
        </p:nvSpPr>
        <p:spPr bwMode="auto">
          <a:xfrm>
            <a:off x="2596896" y="3694176"/>
            <a:ext cx="18653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 b="1">
                <a:solidFill>
                  <a:srgbClr val="00897B"/>
                </a:solidFill>
                <a:latin typeface="Calibri"/>
                <a:ea typeface="Calibri"/>
                <a:cs typeface="Calibri"/>
              </a:rPr>
              <a:t>Payments Head</a:t>
            </a:r>
            <a:endParaRPr lang="en-US" sz="900"/>
          </a:p>
        </p:txBody>
      </p:sp>
      <p:sp>
        <p:nvSpPr>
          <p:cNvPr id="929244374" name="Text 32"/>
          <p:cNvSpPr txBox="1"/>
          <p:nvPr/>
        </p:nvSpPr>
        <p:spPr bwMode="auto">
          <a:xfrm>
            <a:off x="2596896" y="3895343"/>
            <a:ext cx="186537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100" b="1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Routing costs</a:t>
            </a:r>
            <a:endParaRPr lang="en-US" sz="1100"/>
          </a:p>
          <a:p>
            <a:pPr marL="0" indent="0">
              <a:lnSpc>
                <a:spcPct val="110000"/>
              </a:lnSpc>
              <a:buNone/>
              <a:defRPr/>
            </a:pPr>
            <a:r>
              <a:rPr lang="en-US" sz="1100" b="1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increased</a:t>
            </a:r>
            <a:endParaRPr lang="en-US" sz="1100"/>
          </a:p>
        </p:txBody>
      </p:sp>
      <p:sp>
        <p:nvSpPr>
          <p:cNvPr id="1873936793" name="Shape 33"/>
          <p:cNvSpPr/>
          <p:nvPr/>
        </p:nvSpPr>
        <p:spPr bwMode="auto">
          <a:xfrm>
            <a:off x="4700016" y="3621024"/>
            <a:ext cx="2084832" cy="1188720"/>
          </a:xfrm>
          <a:prstGeom prst="rect">
            <a:avLst/>
          </a:prstGeom>
          <a:solidFill>
            <a:srgbClr val="E8EDF2"/>
          </a:solidFill>
          <a:ln w="12700">
            <a:solidFill>
              <a:srgbClr val="D5DDE4"/>
            </a:solidFill>
            <a:prstDash val="solid"/>
          </a:ln>
        </p:spPr>
      </p:sp>
      <p:sp>
        <p:nvSpPr>
          <p:cNvPr id="1415758679" name="Shape 34"/>
          <p:cNvSpPr/>
          <p:nvPr/>
        </p:nvSpPr>
        <p:spPr bwMode="auto">
          <a:xfrm>
            <a:off x="4700016" y="3621024"/>
            <a:ext cx="2084832" cy="54864"/>
          </a:xfrm>
          <a:prstGeom prst="rect">
            <a:avLst/>
          </a:prstGeom>
          <a:solidFill>
            <a:srgbClr val="F4A31A"/>
          </a:solidFill>
          <a:ln/>
        </p:spPr>
      </p:sp>
      <p:sp>
        <p:nvSpPr>
          <p:cNvPr id="2022947512" name="Text 35"/>
          <p:cNvSpPr txBox="1"/>
          <p:nvPr/>
        </p:nvSpPr>
        <p:spPr bwMode="auto">
          <a:xfrm>
            <a:off x="4809744" y="3694176"/>
            <a:ext cx="18653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 b="1">
                <a:solidFill>
                  <a:srgbClr val="F4A31A"/>
                </a:solidFill>
                <a:latin typeface="Calibri"/>
                <a:ea typeface="Calibri"/>
                <a:cs typeface="Calibri"/>
              </a:rPr>
              <a:t>Risk Head</a:t>
            </a:r>
            <a:endParaRPr lang="en-US" sz="900"/>
          </a:p>
        </p:txBody>
      </p:sp>
      <p:sp>
        <p:nvSpPr>
          <p:cNvPr id="430366267" name="Text 36"/>
          <p:cNvSpPr txBox="1"/>
          <p:nvPr/>
        </p:nvSpPr>
        <p:spPr bwMode="auto">
          <a:xfrm>
            <a:off x="4809744" y="3895343"/>
            <a:ext cx="186537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100" b="1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Fraud controls</a:t>
            </a:r>
            <a:endParaRPr lang="en-US" sz="1100"/>
          </a:p>
          <a:p>
            <a:pPr marL="0" indent="0">
              <a:lnSpc>
                <a:spcPct val="110000"/>
              </a:lnSpc>
              <a:buNone/>
              <a:defRPr/>
            </a:pPr>
            <a:r>
              <a:rPr lang="en-US" sz="1100" b="1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caused declines</a:t>
            </a:r>
            <a:endParaRPr lang="en-US" sz="1100"/>
          </a:p>
        </p:txBody>
      </p:sp>
      <p:sp>
        <p:nvSpPr>
          <p:cNvPr id="767581505" name="Shape 37"/>
          <p:cNvSpPr/>
          <p:nvPr/>
        </p:nvSpPr>
        <p:spPr bwMode="auto">
          <a:xfrm>
            <a:off x="6912864" y="3621024"/>
            <a:ext cx="2084832" cy="1188720"/>
          </a:xfrm>
          <a:prstGeom prst="rect">
            <a:avLst/>
          </a:prstGeom>
          <a:solidFill>
            <a:srgbClr val="E8EDF2"/>
          </a:solidFill>
          <a:ln w="12700">
            <a:solidFill>
              <a:srgbClr val="D5DDE4"/>
            </a:solidFill>
            <a:prstDash val="solid"/>
          </a:ln>
        </p:spPr>
      </p:sp>
      <p:sp>
        <p:nvSpPr>
          <p:cNvPr id="974406169" name="Shape 38"/>
          <p:cNvSpPr/>
          <p:nvPr/>
        </p:nvSpPr>
        <p:spPr bwMode="auto">
          <a:xfrm>
            <a:off x="6912864" y="3621024"/>
            <a:ext cx="2084832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81286564" name="Text 39"/>
          <p:cNvSpPr txBox="1"/>
          <p:nvPr/>
        </p:nvSpPr>
        <p:spPr bwMode="auto">
          <a:xfrm>
            <a:off x="7022592" y="3694176"/>
            <a:ext cx="186537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900" b="1">
                <a:solidFill>
                  <a:srgbClr val="C0392B"/>
                </a:solidFill>
                <a:latin typeface="Calibri"/>
                <a:ea typeface="Calibri"/>
                <a:cs typeface="Calibri"/>
              </a:rPr>
              <a:t>Data Head</a:t>
            </a:r>
            <a:endParaRPr lang="en-US" sz="900"/>
          </a:p>
        </p:txBody>
      </p:sp>
      <p:sp>
        <p:nvSpPr>
          <p:cNvPr id="1092722000" name="Text 40"/>
          <p:cNvSpPr txBox="1"/>
          <p:nvPr/>
        </p:nvSpPr>
        <p:spPr bwMode="auto">
          <a:xfrm>
            <a:off x="7022592" y="3895343"/>
            <a:ext cx="186537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  <a:defRPr/>
            </a:pPr>
            <a:r>
              <a:rPr lang="en-US" sz="1100" b="1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Reporting</a:t>
            </a:r>
            <a:endParaRPr lang="en-US" sz="1100"/>
          </a:p>
          <a:p>
            <a:pPr marL="0" indent="0">
              <a:lnSpc>
                <a:spcPct val="110000"/>
              </a:lnSpc>
              <a:buNone/>
              <a:defRPr/>
            </a:pPr>
            <a:r>
              <a:rPr lang="en-US" sz="1100" b="1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cannot be trusted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9826178" name="Shape 0"/>
          <p:cNvSpPr/>
          <p:nvPr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74122602" name="Shape 1"/>
          <p:cNvSpPr/>
          <p:nvPr/>
        </p:nvSpPr>
        <p:spPr bwMode="auto"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2127320685" name="Text 2"/>
          <p:cNvSpPr txBox="1"/>
          <p:nvPr/>
        </p:nvSpPr>
        <p:spPr bwMode="auto">
          <a:xfrm>
            <a:off x="365760" y="73152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800" b="1" spc="300">
                <a:solidFill>
                  <a:srgbClr val="00897B"/>
                </a:solidFill>
                <a:latin typeface="Calibri"/>
                <a:ea typeface="Calibri"/>
                <a:cs typeface="Calibri"/>
              </a:rPr>
              <a:t>EVIDENCE</a:t>
            </a:r>
            <a:endParaRPr lang="en-US" sz="800"/>
          </a:p>
        </p:txBody>
      </p:sp>
      <p:sp>
        <p:nvSpPr>
          <p:cNvPr id="1312704303" name="Text 3"/>
          <p:cNvSpPr txBox="1"/>
          <p:nvPr/>
        </p:nvSpPr>
        <p:spPr bwMode="auto">
          <a:xfrm>
            <a:off x="365760" y="310896"/>
            <a:ext cx="8412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Route R3 explains 62% of the profit decline — two compounding causes</a:t>
            </a:r>
            <a:endParaRPr lang="en-US" sz="2200"/>
          </a:p>
        </p:txBody>
      </p:sp>
      <p:graphicFrame>
        <p:nvGraphicFramePr>
          <p:cNvPr id="812227226" name="Chart 0" descr=""/>
          <p:cNvGraphicFramePr>
            <a:graphicFrameLocks xmlns:a="http://schemas.openxmlformats.org/drawingml/2006/main"/>
          </p:cNvGraphicFramePr>
          <p:nvPr/>
        </p:nvGraphicFramePr>
        <p:xfrm rot="0">
          <a:off x="274320" y="1115568"/>
          <a:ext cx="393192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37835403" name="Chart 1" descr=""/>
          <p:cNvGraphicFramePr>
            <a:graphicFrameLocks xmlns:a="http://schemas.openxmlformats.org/drawingml/2006/main"/>
          </p:cNvGraphicFramePr>
          <p:nvPr/>
        </p:nvGraphicFramePr>
        <p:xfrm rot="0">
          <a:off x="4389120" y="1115568"/>
          <a:ext cx="448056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49042319" name="Text 4"/>
          <p:cNvSpPr txBox="1"/>
          <p:nvPr/>
        </p:nvSpPr>
        <p:spPr bwMode="auto">
          <a:xfrm>
            <a:off x="274320" y="3566160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800" b="1" spc="200">
                <a:solidFill>
                  <a:srgbClr val="8FA0AF"/>
                </a:solidFill>
                <a:latin typeface="Calibri"/>
                <a:ea typeface="Calibri"/>
                <a:cs typeface="Calibri"/>
              </a:rPr>
              <a:t>KEY FINDINGS FROM THE MIX-VS-RATE DECOMPOSITION</a:t>
            </a:r>
            <a:endParaRPr lang="en-US" sz="800"/>
          </a:p>
        </p:txBody>
      </p:sp>
      <p:sp>
        <p:nvSpPr>
          <p:cNvPr id="1255480516" name="Shape 5"/>
          <p:cNvSpPr/>
          <p:nvPr/>
        </p:nvSpPr>
        <p:spPr bwMode="auto">
          <a:xfrm>
            <a:off x="274320" y="3767328"/>
            <a:ext cx="2788920" cy="1078992"/>
          </a:xfrm>
          <a:prstGeom prst="rect">
            <a:avLst/>
          </a:prstGeom>
          <a:solidFill>
            <a:srgbClr val="E8EDF2"/>
          </a:solidFill>
          <a:ln w="12700">
            <a:solidFill>
              <a:srgbClr val="D5DDE4"/>
            </a:solidFill>
            <a:prstDash val="solid"/>
          </a:ln>
        </p:spPr>
      </p:sp>
      <p:sp>
        <p:nvSpPr>
          <p:cNvPr id="325726068" name="Shape 6"/>
          <p:cNvSpPr/>
          <p:nvPr/>
        </p:nvSpPr>
        <p:spPr bwMode="auto">
          <a:xfrm>
            <a:off x="274320" y="3767328"/>
            <a:ext cx="2788920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62446419" name="Text 7"/>
          <p:cNvSpPr txBox="1"/>
          <p:nvPr/>
        </p:nvSpPr>
        <p:spPr bwMode="auto">
          <a:xfrm>
            <a:off x="384048" y="3840480"/>
            <a:ext cx="804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C0392B"/>
                </a:solidFill>
                <a:latin typeface="Cambria"/>
                <a:ea typeface="Cambria"/>
                <a:cs typeface="Cambria"/>
              </a:rPr>
              <a:t>61.7%</a:t>
            </a:r>
            <a:endParaRPr lang="en-US" sz="2600"/>
          </a:p>
        </p:txBody>
      </p:sp>
      <p:sp>
        <p:nvSpPr>
          <p:cNvPr id="1363895801" name="Text 8"/>
          <p:cNvSpPr txBox="1"/>
          <p:nvPr/>
        </p:nvSpPr>
        <p:spPr bwMode="auto">
          <a:xfrm>
            <a:off x="1234440" y="3858768"/>
            <a:ext cx="1719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00" b="1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Route R3 (PayGlobal)</a:t>
            </a:r>
            <a:endParaRPr lang="en-US" sz="1000"/>
          </a:p>
        </p:txBody>
      </p:sp>
      <p:sp>
        <p:nvSpPr>
          <p:cNvPr id="946799300" name="Text 9"/>
          <p:cNvSpPr txBox="1"/>
          <p:nvPr/>
        </p:nvSpPr>
        <p:spPr bwMode="auto">
          <a:xfrm>
            <a:off x="1234440" y="4133088"/>
            <a:ext cx="17190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900">
                <a:solidFill>
                  <a:srgbClr val="8FA0AF"/>
                </a:solidFill>
                <a:latin typeface="Calibri"/>
                <a:ea typeface="Calibri"/>
                <a:cs typeface="Calibri"/>
              </a:rPr>
              <a:t>1-Apr fee: 1.2% → 1.6%</a:t>
            </a:r>
            <a:endParaRPr lang="en-US" sz="900"/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sz="900">
                <a:solidFill>
                  <a:srgbClr val="8FA0AF"/>
                </a:solidFill>
                <a:latin typeface="Calibri"/>
                <a:ea typeface="Calibri"/>
                <a:cs typeface="Calibri"/>
              </a:rPr>
              <a:t>+ growing volume share</a:t>
            </a:r>
            <a:endParaRPr lang="en-US" sz="900"/>
          </a:p>
        </p:txBody>
      </p:sp>
      <p:sp>
        <p:nvSpPr>
          <p:cNvPr id="548203591" name="Shape 10"/>
          <p:cNvSpPr/>
          <p:nvPr/>
        </p:nvSpPr>
        <p:spPr bwMode="auto">
          <a:xfrm>
            <a:off x="3227832" y="3767328"/>
            <a:ext cx="2788920" cy="1078992"/>
          </a:xfrm>
          <a:prstGeom prst="rect">
            <a:avLst/>
          </a:prstGeom>
          <a:solidFill>
            <a:srgbClr val="E8EDF2"/>
          </a:solidFill>
          <a:ln w="12700">
            <a:solidFill>
              <a:srgbClr val="D5DDE4"/>
            </a:solidFill>
            <a:prstDash val="solid"/>
          </a:ln>
        </p:spPr>
      </p:sp>
      <p:sp>
        <p:nvSpPr>
          <p:cNvPr id="950611678" name="Shape 11"/>
          <p:cNvSpPr/>
          <p:nvPr/>
        </p:nvSpPr>
        <p:spPr bwMode="auto">
          <a:xfrm>
            <a:off x="3227832" y="3767328"/>
            <a:ext cx="2788920" cy="54864"/>
          </a:xfrm>
          <a:prstGeom prst="rect">
            <a:avLst/>
          </a:prstGeom>
          <a:solidFill>
            <a:srgbClr val="F4A31A"/>
          </a:solidFill>
          <a:ln/>
        </p:spPr>
      </p:sp>
      <p:sp>
        <p:nvSpPr>
          <p:cNvPr id="2030851393" name="Text 12"/>
          <p:cNvSpPr txBox="1"/>
          <p:nvPr/>
        </p:nvSpPr>
        <p:spPr bwMode="auto">
          <a:xfrm>
            <a:off x="3337560" y="3840480"/>
            <a:ext cx="804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F4A31A"/>
                </a:solidFill>
                <a:latin typeface="Cambria"/>
                <a:ea typeface="Cambria"/>
                <a:cs typeface="Cambria"/>
              </a:rPr>
              <a:t>22.5%</a:t>
            </a:r>
            <a:endParaRPr lang="en-US" sz="2600"/>
          </a:p>
        </p:txBody>
      </p:sp>
      <p:sp>
        <p:nvSpPr>
          <p:cNvPr id="784647147" name="Text 13"/>
          <p:cNvSpPr txBox="1"/>
          <p:nvPr/>
        </p:nvSpPr>
        <p:spPr bwMode="auto">
          <a:xfrm>
            <a:off x="4187952" y="3858768"/>
            <a:ext cx="1719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00" b="1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Route R4 (LocalBank UAE)</a:t>
            </a:r>
            <a:endParaRPr lang="en-US" sz="1000"/>
          </a:p>
        </p:txBody>
      </p:sp>
      <p:sp>
        <p:nvSpPr>
          <p:cNvPr id="1330210715" name="Text 14"/>
          <p:cNvSpPr txBox="1"/>
          <p:nvPr/>
        </p:nvSpPr>
        <p:spPr bwMode="auto">
          <a:xfrm>
            <a:off x="4187952" y="4133088"/>
            <a:ext cx="17190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900">
                <a:solidFill>
                  <a:srgbClr val="8FA0AF"/>
                </a:solidFill>
                <a:latin typeface="Calibri"/>
                <a:ea typeface="Calibri"/>
                <a:cs typeface="Calibri"/>
              </a:rPr>
              <a:t>Blended cost rising</a:t>
            </a:r>
            <a:endParaRPr lang="en-US" sz="900"/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sz="900">
                <a:solidFill>
                  <a:srgbClr val="8FA0AF"/>
                </a:solidFill>
                <a:latin typeface="Calibri"/>
                <a:ea typeface="Calibri"/>
                <a:cs typeface="Calibri"/>
              </a:rPr>
              <a:t>as R3 mix shifts UAE volume</a:t>
            </a:r>
            <a:endParaRPr lang="en-US" sz="900"/>
          </a:p>
        </p:txBody>
      </p:sp>
      <p:sp>
        <p:nvSpPr>
          <p:cNvPr id="164966287" name="Shape 15"/>
          <p:cNvSpPr/>
          <p:nvPr/>
        </p:nvSpPr>
        <p:spPr bwMode="auto">
          <a:xfrm>
            <a:off x="6181344" y="3767328"/>
            <a:ext cx="2788920" cy="1078992"/>
          </a:xfrm>
          <a:prstGeom prst="rect">
            <a:avLst/>
          </a:prstGeom>
          <a:solidFill>
            <a:srgbClr val="E8EDF2"/>
          </a:solidFill>
          <a:ln w="12700">
            <a:solidFill>
              <a:srgbClr val="D5DDE4"/>
            </a:solidFill>
            <a:prstDash val="solid"/>
          </a:ln>
        </p:spPr>
      </p:sp>
      <p:sp>
        <p:nvSpPr>
          <p:cNvPr id="414844173" name="Shape 16"/>
          <p:cNvSpPr/>
          <p:nvPr/>
        </p:nvSpPr>
        <p:spPr bwMode="auto">
          <a:xfrm>
            <a:off x="6181344" y="3767328"/>
            <a:ext cx="2788920" cy="54864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704599750" name="Text 17"/>
          <p:cNvSpPr txBox="1"/>
          <p:nvPr/>
        </p:nvSpPr>
        <p:spPr bwMode="auto">
          <a:xfrm>
            <a:off x="6291072" y="3840480"/>
            <a:ext cx="804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00897B"/>
                </a:solidFill>
                <a:latin typeface="Cambria"/>
                <a:ea typeface="Cambria"/>
                <a:cs typeface="Cambria"/>
              </a:rPr>
              <a:t>×2</a:t>
            </a:r>
            <a:endParaRPr lang="en-US" sz="2600"/>
          </a:p>
        </p:txBody>
      </p:sp>
      <p:sp>
        <p:nvSpPr>
          <p:cNvPr id="667292920" name="Text 18"/>
          <p:cNvSpPr txBox="1"/>
          <p:nvPr/>
        </p:nvSpPr>
        <p:spPr bwMode="auto">
          <a:xfrm>
            <a:off x="7141464" y="3858768"/>
            <a:ext cx="17190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00" b="1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Chargeback cost doubled</a:t>
            </a:r>
            <a:endParaRPr lang="en-US" sz="1000"/>
          </a:p>
        </p:txBody>
      </p:sp>
      <p:sp>
        <p:nvSpPr>
          <p:cNvPr id="327470060" name="Text 19"/>
          <p:cNvSpPr txBox="1"/>
          <p:nvPr/>
        </p:nvSpPr>
        <p:spPr bwMode="auto">
          <a:xfrm>
            <a:off x="7141464" y="4133088"/>
            <a:ext cx="17190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900">
                <a:solidFill>
                  <a:srgbClr val="8FA0AF"/>
                </a:solidFill>
                <a:latin typeface="Calibri"/>
                <a:ea typeface="Calibri"/>
                <a:cs typeface="Calibri"/>
              </a:rPr>
              <a:t>Electronics &amp; Digital Goods</a:t>
            </a:r>
            <a:endParaRPr lang="en-US" sz="900"/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sz="900">
                <a:solidFill>
                  <a:srgbClr val="8FA0AF"/>
                </a:solidFill>
                <a:latin typeface="Calibri"/>
                <a:ea typeface="Calibri"/>
                <a:cs typeface="Calibri"/>
              </a:rPr>
              <a:t>Jan $230 → Jun $580</a:t>
            </a:r>
            <a:endParaRPr lang="en-US" sz="9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3657446" name="Shape 0"/>
          <p:cNvSpPr/>
          <p:nvPr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25733538" name="Shape 1"/>
          <p:cNvSpPr/>
          <p:nvPr/>
        </p:nvSpPr>
        <p:spPr bwMode="auto"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1909057589" name="Text 2"/>
          <p:cNvSpPr txBox="1"/>
          <p:nvPr/>
        </p:nvSpPr>
        <p:spPr bwMode="auto">
          <a:xfrm>
            <a:off x="365760" y="73152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800" b="1" spc="300">
                <a:solidFill>
                  <a:srgbClr val="00897B"/>
                </a:solidFill>
                <a:latin typeface="Calibri"/>
                <a:ea typeface="Calibri"/>
                <a:cs typeface="Calibri"/>
              </a:rPr>
              <a:t>DIAGNOSIS</a:t>
            </a:r>
            <a:endParaRPr lang="en-US" sz="800"/>
          </a:p>
        </p:txBody>
      </p:sp>
      <p:sp>
        <p:nvSpPr>
          <p:cNvPr id="931827520" name="Text 3"/>
          <p:cNvSpPr txBox="1"/>
          <p:nvPr/>
        </p:nvSpPr>
        <p:spPr bwMode="auto">
          <a:xfrm>
            <a:off x="365760" y="310896"/>
            <a:ext cx="8412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Two drivers confirmed. Two stakeholder claims do not hold for this KPI.</a:t>
            </a:r>
            <a:endParaRPr lang="en-US" sz="2200"/>
          </a:p>
        </p:txBody>
      </p:sp>
      <p:sp>
        <p:nvSpPr>
          <p:cNvPr id="29518382" name="Shape 4"/>
          <p:cNvSpPr/>
          <p:nvPr/>
        </p:nvSpPr>
        <p:spPr bwMode="auto">
          <a:xfrm>
            <a:off x="274320" y="1115568"/>
            <a:ext cx="8595360" cy="841248"/>
          </a:xfrm>
          <a:prstGeom prst="rect">
            <a:avLst/>
          </a:prstGeom>
          <a:solidFill>
            <a:srgbClr val="E8EDF2"/>
          </a:solidFill>
          <a:ln w="12700">
            <a:solidFill>
              <a:srgbClr val="D5DDE4"/>
            </a:solidFill>
            <a:prstDash val="solid"/>
          </a:ln>
        </p:spPr>
      </p:sp>
      <p:sp>
        <p:nvSpPr>
          <p:cNvPr id="392084869" name="Shape 5"/>
          <p:cNvSpPr/>
          <p:nvPr/>
        </p:nvSpPr>
        <p:spPr bwMode="auto">
          <a:xfrm>
            <a:off x="5394960" y="1225296"/>
            <a:ext cx="3291840" cy="292608"/>
          </a:xfrm>
          <a:prstGeom prst="roundRect">
            <a:avLst>
              <a:gd name="adj" fmla="val 12500"/>
            </a:avLst>
          </a:prstGeom>
          <a:solidFill>
            <a:srgbClr val="00897B"/>
          </a:solidFill>
          <a:ln/>
        </p:spPr>
      </p:sp>
      <p:sp>
        <p:nvSpPr>
          <p:cNvPr id="1711323619" name="Text 6"/>
          <p:cNvSpPr txBox="1"/>
          <p:nvPr/>
        </p:nvSpPr>
        <p:spPr bwMode="auto">
          <a:xfrm>
            <a:off x="5394960" y="122529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CONFIRMED — PRIMARY DRIVER</a:t>
            </a:r>
            <a:endParaRPr lang="en-US" sz="900"/>
          </a:p>
        </p:txBody>
      </p:sp>
      <p:sp>
        <p:nvSpPr>
          <p:cNvPr id="1187627011" name="Text 7"/>
          <p:cNvSpPr txBox="1"/>
          <p:nvPr/>
        </p:nvSpPr>
        <p:spPr bwMode="auto">
          <a:xfrm>
            <a:off x="402336" y="1188720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Routing cost &amp; mix (Head of Payments)</a:t>
            </a:r>
            <a:endParaRPr lang="en-US" sz="1100"/>
          </a:p>
        </p:txBody>
      </p:sp>
      <p:sp>
        <p:nvSpPr>
          <p:cNvPr id="1129999671" name="Text 8"/>
          <p:cNvSpPr txBox="1"/>
          <p:nvPr/>
        </p:nvSpPr>
        <p:spPr bwMode="auto">
          <a:xfrm>
            <a:off x="402336" y="1481328"/>
            <a:ext cx="83576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4999"/>
              </a:lnSpc>
              <a:buNone/>
              <a:defRPr/>
            </a:pPr>
            <a:r>
              <a:rPr lang="en-US" sz="950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Route R3 fee rose 33% on 1 Apr. R3 share of volume grew every month in all 3 countries. Together: 61.7% of the total profit decline. Two separable sub-causes: the fee increase (rate effect) and the mix shift (volume moving to the costlier route).</a:t>
            </a:r>
            <a:endParaRPr lang="en-US" sz="950"/>
          </a:p>
        </p:txBody>
      </p:sp>
      <p:sp>
        <p:nvSpPr>
          <p:cNvPr id="846368089" name="Shape 9"/>
          <p:cNvSpPr/>
          <p:nvPr/>
        </p:nvSpPr>
        <p:spPr bwMode="auto">
          <a:xfrm>
            <a:off x="274320" y="2039112"/>
            <a:ext cx="85953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4"/>
            </a:solidFill>
            <a:prstDash val="solid"/>
          </a:ln>
        </p:spPr>
      </p:sp>
      <p:sp>
        <p:nvSpPr>
          <p:cNvPr id="1704347406" name="Shape 10"/>
          <p:cNvSpPr/>
          <p:nvPr/>
        </p:nvSpPr>
        <p:spPr bwMode="auto">
          <a:xfrm>
            <a:off x="5394960" y="2148840"/>
            <a:ext cx="3291840" cy="292608"/>
          </a:xfrm>
          <a:prstGeom prst="roundRect">
            <a:avLst>
              <a:gd name="adj" fmla="val 12500"/>
            </a:avLst>
          </a:prstGeom>
          <a:solidFill>
            <a:srgbClr val="00897B"/>
          </a:solidFill>
          <a:ln/>
        </p:spPr>
      </p:sp>
      <p:sp>
        <p:nvSpPr>
          <p:cNvPr id="1022522636" name="Text 11"/>
          <p:cNvSpPr txBox="1"/>
          <p:nvPr/>
        </p:nvSpPr>
        <p:spPr bwMode="auto">
          <a:xfrm>
            <a:off x="5394960" y="21488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CONFIRMED — SECONDARY</a:t>
            </a:r>
            <a:endParaRPr lang="en-US" sz="900"/>
          </a:p>
        </p:txBody>
      </p:sp>
      <p:sp>
        <p:nvSpPr>
          <p:cNvPr id="1429341841" name="Text 12"/>
          <p:cNvSpPr txBox="1"/>
          <p:nvPr/>
        </p:nvSpPr>
        <p:spPr bwMode="auto">
          <a:xfrm>
            <a:off x="402336" y="2112264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Chargeback drift — Electronics &amp; Digital Goods</a:t>
            </a:r>
            <a:endParaRPr lang="en-US" sz="1100"/>
          </a:p>
        </p:txBody>
      </p:sp>
      <p:sp>
        <p:nvSpPr>
          <p:cNvPr id="1918734636" name="Text 13"/>
          <p:cNvSpPr txBox="1"/>
          <p:nvPr/>
        </p:nvSpPr>
        <p:spPr bwMode="auto">
          <a:xfrm>
            <a:off x="402336" y="2404872"/>
            <a:ext cx="83576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4999"/>
              </a:lnSpc>
              <a:buNone/>
              <a:defRPr/>
            </a:pPr>
            <a:r>
              <a:rPr lang="en-US" sz="950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Chargeback cost doubled Jan → Jun, concentrated in two merchant categories. Electronics explains 42.9% of the merchant-attributable decline. Independent of the routing story — needs its own remediation track.</a:t>
            </a:r>
            <a:endParaRPr lang="en-US" sz="950"/>
          </a:p>
        </p:txBody>
      </p:sp>
      <p:sp>
        <p:nvSpPr>
          <p:cNvPr id="1831757003" name="Shape 14"/>
          <p:cNvSpPr/>
          <p:nvPr/>
        </p:nvSpPr>
        <p:spPr bwMode="auto">
          <a:xfrm>
            <a:off x="274320" y="2962656"/>
            <a:ext cx="8595360" cy="841248"/>
          </a:xfrm>
          <a:prstGeom prst="rect">
            <a:avLst/>
          </a:prstGeom>
          <a:solidFill>
            <a:srgbClr val="E8EDF2"/>
          </a:solidFill>
          <a:ln w="12700">
            <a:solidFill>
              <a:srgbClr val="D5DDE4"/>
            </a:solidFill>
            <a:prstDash val="solid"/>
          </a:ln>
        </p:spPr>
      </p:sp>
      <p:sp>
        <p:nvSpPr>
          <p:cNvPr id="543633329" name="Shape 15"/>
          <p:cNvSpPr/>
          <p:nvPr/>
        </p:nvSpPr>
        <p:spPr bwMode="auto">
          <a:xfrm>
            <a:off x="5394960" y="3072384"/>
            <a:ext cx="3291840" cy="292608"/>
          </a:xfrm>
          <a:prstGeom prst="roundRect">
            <a:avLst>
              <a:gd name="adj" fmla="val 12500"/>
            </a:avLst>
          </a:prstGeom>
          <a:solidFill>
            <a:srgbClr val="C0392B"/>
          </a:solidFill>
          <a:ln/>
        </p:spPr>
      </p:sp>
      <p:sp>
        <p:nvSpPr>
          <p:cNvPr id="873990295" name="Text 16"/>
          <p:cNvSpPr txBox="1"/>
          <p:nvPr/>
        </p:nvSpPr>
        <p:spPr bwMode="auto">
          <a:xfrm>
            <a:off x="5394960" y="307238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DISPROVED FOR THIS KPI</a:t>
            </a:r>
            <a:endParaRPr lang="en-US" sz="900"/>
          </a:p>
        </p:txBody>
      </p:sp>
      <p:sp>
        <p:nvSpPr>
          <p:cNvPr id="1134831317" name="Text 17"/>
          <p:cNvSpPr txBox="1"/>
          <p:nvPr/>
        </p:nvSpPr>
        <p:spPr bwMode="auto">
          <a:xfrm>
            <a:off x="402336" y="3035808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Fraud controls / false declines (Risk Head)</a:t>
            </a:r>
            <a:endParaRPr lang="en-US" sz="1100"/>
          </a:p>
        </p:txBody>
      </p:sp>
      <p:sp>
        <p:nvSpPr>
          <p:cNvPr id="971428502" name="Text 18"/>
          <p:cNvSpPr txBox="1"/>
          <p:nvPr/>
        </p:nvSpPr>
        <p:spPr bwMode="auto">
          <a:xfrm>
            <a:off x="393191" y="3328416"/>
            <a:ext cx="83576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4999"/>
              </a:lnSpc>
              <a:buNone/>
              <a:defRPr/>
            </a:pPr>
            <a:r>
              <a:rPr lang="en-US" sz="950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High-risk decline rate genuinely doubled (8.3% → 16.4%) — but successful High-risk transactions show no worse profit trend than any other tier. Fraud tightening is a volume/success-rate problem, not a profit-per-transaction problem. The Risk Head is right about the wrong KPI.</a:t>
            </a:r>
            <a:endParaRPr lang="en-US" sz="950"/>
          </a:p>
        </p:txBody>
      </p:sp>
      <p:sp>
        <p:nvSpPr>
          <p:cNvPr id="1209321046" name="Shape 19"/>
          <p:cNvSpPr/>
          <p:nvPr/>
        </p:nvSpPr>
        <p:spPr bwMode="auto">
          <a:xfrm>
            <a:off x="274320" y="3886200"/>
            <a:ext cx="85953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4"/>
            </a:solidFill>
            <a:prstDash val="solid"/>
          </a:ln>
        </p:spPr>
      </p:sp>
      <p:sp>
        <p:nvSpPr>
          <p:cNvPr id="1564436801" name="Shape 20"/>
          <p:cNvSpPr/>
          <p:nvPr/>
        </p:nvSpPr>
        <p:spPr bwMode="auto">
          <a:xfrm>
            <a:off x="5394960" y="3995928"/>
            <a:ext cx="3291840" cy="292608"/>
          </a:xfrm>
          <a:prstGeom prst="roundRect">
            <a:avLst>
              <a:gd name="adj" fmla="val 12500"/>
            </a:avLst>
          </a:prstGeom>
          <a:solidFill>
            <a:srgbClr val="F4A31A"/>
          </a:solidFill>
          <a:ln/>
        </p:spPr>
      </p:sp>
      <p:sp>
        <p:nvSpPr>
          <p:cNvPr id="1969989894" name="Text 21"/>
          <p:cNvSpPr txBox="1"/>
          <p:nvPr/>
        </p:nvSpPr>
        <p:spPr bwMode="auto">
          <a:xfrm>
            <a:off x="5394960" y="399592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REAL BUT MINOR</a:t>
            </a:r>
            <a:endParaRPr lang="en-US" sz="900"/>
          </a:p>
        </p:txBody>
      </p:sp>
      <p:sp>
        <p:nvSpPr>
          <p:cNvPr id="1733011443" name="Text 22"/>
          <p:cNvSpPr txBox="1"/>
          <p:nvPr/>
        </p:nvSpPr>
        <p:spPr bwMode="auto">
          <a:xfrm>
            <a:off x="402336" y="3959352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Merchant pricing (CFO)</a:t>
            </a:r>
            <a:endParaRPr lang="en-US" sz="1100"/>
          </a:p>
        </p:txBody>
      </p:sp>
      <p:sp>
        <p:nvSpPr>
          <p:cNvPr id="2112913532" name="Text 23"/>
          <p:cNvSpPr txBox="1"/>
          <p:nvPr/>
        </p:nvSpPr>
        <p:spPr bwMode="auto">
          <a:xfrm>
            <a:off x="402336" y="4251960"/>
            <a:ext cx="83576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4999"/>
              </a:lnSpc>
              <a:buNone/>
              <a:defRPr/>
            </a:pPr>
            <a:r>
              <a:rPr lang="en-US" sz="950">
                <a:solidFill>
                  <a:srgbClr val="2C3E50"/>
                </a:solidFill>
                <a:latin typeface="Calibri"/>
                <a:ea typeface="Calibri"/>
                <a:cs typeface="Calibri"/>
              </a:rPr>
              <a:t>Singapore Enterprise fee cut (2.6% → 1.5%, Feb 2025) is confirmed but too narrow to explain a 3-country, 6-month trend. No broader undocumented pricing erosion found.</a:t>
            </a:r>
            <a:endParaRPr lang="en-US" sz="9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4149070" name="Shape 0"/>
          <p:cNvSpPr/>
          <p:nvPr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466760236" name="Shape 1"/>
          <p:cNvSpPr/>
          <p:nvPr/>
        </p:nvSpPr>
        <p:spPr bwMode="auto">
          <a:xfrm>
            <a:off x="0" y="0"/>
            <a:ext cx="9144000" cy="1005840"/>
          </a:xfrm>
          <a:prstGeom prst="rect">
            <a:avLst/>
          </a:prstGeom>
          <a:solidFill>
            <a:srgbClr val="060E18"/>
          </a:solidFill>
          <a:ln/>
        </p:spPr>
      </p:sp>
      <p:sp>
        <p:nvSpPr>
          <p:cNvPr id="226160714" name="Text 2"/>
          <p:cNvSpPr txBox="1"/>
          <p:nvPr/>
        </p:nvSpPr>
        <p:spPr bwMode="auto">
          <a:xfrm>
            <a:off x="365760" y="73152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800" b="1" spc="300">
                <a:solidFill>
                  <a:srgbClr val="00897B"/>
                </a:solidFill>
                <a:latin typeface="Calibri"/>
                <a:ea typeface="Calibri"/>
                <a:cs typeface="Calibri"/>
              </a:rPr>
              <a:t>60-DAY ACTION PLAN</a:t>
            </a:r>
            <a:endParaRPr lang="en-US" sz="800"/>
          </a:p>
        </p:txBody>
      </p:sp>
      <p:sp>
        <p:nvSpPr>
          <p:cNvPr id="986046124" name="Text 3"/>
          <p:cNvSpPr txBox="1"/>
          <p:nvPr/>
        </p:nvSpPr>
        <p:spPr bwMode="auto">
          <a:xfrm>
            <a:off x="365760" y="310896"/>
            <a:ext cx="8412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Five actions — each with an owner, metric, and risk</a:t>
            </a:r>
            <a:endParaRPr lang="en-US" sz="2200"/>
          </a:p>
        </p:txBody>
      </p:sp>
      <p:sp>
        <p:nvSpPr>
          <p:cNvPr id="2102529429" name="Shape 4"/>
          <p:cNvSpPr/>
          <p:nvPr/>
        </p:nvSpPr>
        <p:spPr bwMode="auto">
          <a:xfrm>
            <a:off x="228600" y="969264"/>
            <a:ext cx="54864" cy="713232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71784708" name="Shape 5"/>
          <p:cNvSpPr/>
          <p:nvPr/>
        </p:nvSpPr>
        <p:spPr bwMode="auto">
          <a:xfrm>
            <a:off x="301752" y="1115568"/>
            <a:ext cx="384048" cy="384048"/>
          </a:xfrm>
          <a:prstGeom prst="ellipse">
            <a:avLst/>
          </a:prstGeom>
          <a:solidFill>
            <a:srgbClr val="00897B"/>
          </a:solidFill>
          <a:ln/>
        </p:spPr>
      </p:sp>
      <p:sp>
        <p:nvSpPr>
          <p:cNvPr id="1301045124" name="Text 6"/>
          <p:cNvSpPr txBox="1"/>
          <p:nvPr/>
        </p:nvSpPr>
        <p:spPr bwMode="auto">
          <a:xfrm>
            <a:off x="301752" y="111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</a:t>
            </a:r>
            <a:endParaRPr lang="en-US" sz="1200"/>
          </a:p>
        </p:txBody>
      </p:sp>
      <p:sp>
        <p:nvSpPr>
          <p:cNvPr id="930210560" name="Shape 7"/>
          <p:cNvSpPr/>
          <p:nvPr/>
        </p:nvSpPr>
        <p:spPr bwMode="auto">
          <a:xfrm>
            <a:off x="768096" y="1042416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2233"/>
          </a:solidFill>
          <a:ln/>
        </p:spPr>
      </p:sp>
      <p:sp>
        <p:nvSpPr>
          <p:cNvPr id="383339499" name="Text 8"/>
          <p:cNvSpPr txBox="1"/>
          <p:nvPr/>
        </p:nvSpPr>
        <p:spPr bwMode="auto">
          <a:xfrm>
            <a:off x="768096" y="104241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Days 1–30</a:t>
            </a:r>
            <a:endParaRPr lang="en-US" sz="900"/>
          </a:p>
        </p:txBody>
      </p:sp>
      <p:sp>
        <p:nvSpPr>
          <p:cNvPr id="1974386527" name="Text 9"/>
          <p:cNvSpPr txBox="1"/>
          <p:nvPr/>
        </p:nvSpPr>
        <p:spPr bwMode="auto">
          <a:xfrm>
            <a:off x="1847088" y="100584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Renegotiate or cap Route R3 (PayGlobal) variable fee</a:t>
            </a:r>
            <a:endParaRPr lang="en-US" sz="1050"/>
          </a:p>
        </p:txBody>
      </p:sp>
      <p:sp>
        <p:nvSpPr>
          <p:cNvPr id="1506791571" name="Text 10"/>
          <p:cNvSpPr txBox="1"/>
          <p:nvPr/>
        </p:nvSpPr>
        <p:spPr bwMode="auto">
          <a:xfrm>
            <a:off x="1847088" y="1280160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8FA0AF"/>
                </a:solidFill>
                <a:latin typeface="Calibri"/>
                <a:ea typeface="Calibri"/>
                <a:cs typeface="Calibri"/>
              </a:rPr>
              <a:t>Owner: Head of Payments + CFO</a:t>
            </a:r>
            <a:endParaRPr lang="en-US" sz="850"/>
          </a:p>
        </p:txBody>
      </p:sp>
      <p:sp>
        <p:nvSpPr>
          <p:cNvPr id="828215237" name="Text 11"/>
          <p:cNvSpPr txBox="1"/>
          <p:nvPr/>
        </p:nvSpPr>
        <p:spPr bwMode="auto">
          <a:xfrm>
            <a:off x="1847088" y="1444752"/>
            <a:ext cx="5394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750">
                <a:solidFill>
                  <a:srgbClr val="00897B"/>
                </a:solidFill>
                <a:latin typeface="Calibri"/>
                <a:ea typeface="Calibri"/>
                <a:cs typeface="Calibri"/>
              </a:rPr>
              <a:t>✓ Route R3 variable_fee_pct back to ≤1.2% OR R3 share &lt; 30%</a:t>
            </a:r>
            <a:endParaRPr lang="en-US" sz="750"/>
          </a:p>
        </p:txBody>
      </p:sp>
      <p:sp>
        <p:nvSpPr>
          <p:cNvPr id="1138925690" name="Shape 12"/>
          <p:cNvSpPr/>
          <p:nvPr/>
        </p:nvSpPr>
        <p:spPr bwMode="auto">
          <a:xfrm>
            <a:off x="6053328" y="1005840"/>
            <a:ext cx="2852928" cy="640080"/>
          </a:xfrm>
          <a:prstGeom prst="rect">
            <a:avLst/>
          </a:prstGeom>
          <a:solidFill>
            <a:srgbClr val="0F2233"/>
          </a:solidFill>
          <a:ln/>
        </p:spPr>
      </p:sp>
      <p:sp>
        <p:nvSpPr>
          <p:cNvPr id="124342106" name="Text 13"/>
          <p:cNvSpPr txBox="1"/>
          <p:nvPr/>
        </p:nvSpPr>
        <p:spPr bwMode="auto">
          <a:xfrm>
            <a:off x="6126480" y="1060704"/>
            <a:ext cx="270662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850">
                <a:solidFill>
                  <a:srgbClr val="F4A31A"/>
                </a:solidFill>
                <a:latin typeface="Calibri"/>
                <a:ea typeface="Calibri"/>
                <a:cs typeface="Calibri"/>
              </a:rPr>
              <a:t>⚠ PayGlobal may refuse; need backup route ready</a:t>
            </a:r>
            <a:endParaRPr lang="en-US" sz="850"/>
          </a:p>
        </p:txBody>
      </p:sp>
      <p:sp>
        <p:nvSpPr>
          <p:cNvPr id="1118616201" name="Shape 14"/>
          <p:cNvSpPr/>
          <p:nvPr/>
        </p:nvSpPr>
        <p:spPr bwMode="auto">
          <a:xfrm>
            <a:off x="228600" y="1764792"/>
            <a:ext cx="54864" cy="713232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478415752" name="Shape 15"/>
          <p:cNvSpPr/>
          <p:nvPr/>
        </p:nvSpPr>
        <p:spPr bwMode="auto">
          <a:xfrm>
            <a:off x="301752" y="1911096"/>
            <a:ext cx="384048" cy="384048"/>
          </a:xfrm>
          <a:prstGeom prst="ellipse">
            <a:avLst/>
          </a:prstGeom>
          <a:solidFill>
            <a:srgbClr val="00897B"/>
          </a:solidFill>
          <a:ln/>
        </p:spPr>
      </p:sp>
      <p:sp>
        <p:nvSpPr>
          <p:cNvPr id="2088309077" name="Text 16"/>
          <p:cNvSpPr txBox="1"/>
          <p:nvPr/>
        </p:nvSpPr>
        <p:spPr bwMode="auto">
          <a:xfrm>
            <a:off x="301752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2</a:t>
            </a:r>
            <a:endParaRPr lang="en-US" sz="1200"/>
          </a:p>
        </p:txBody>
      </p:sp>
      <p:sp>
        <p:nvSpPr>
          <p:cNvPr id="1349043732" name="Shape 17"/>
          <p:cNvSpPr/>
          <p:nvPr/>
        </p:nvSpPr>
        <p:spPr bwMode="auto">
          <a:xfrm>
            <a:off x="768096" y="183794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2233"/>
          </a:solidFill>
          <a:ln/>
        </p:spPr>
      </p:sp>
      <p:sp>
        <p:nvSpPr>
          <p:cNvPr id="1612062117" name="Text 18"/>
          <p:cNvSpPr txBox="1"/>
          <p:nvPr/>
        </p:nvSpPr>
        <p:spPr bwMode="auto">
          <a:xfrm>
            <a:off x="768096" y="18379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Days 1–20</a:t>
            </a:r>
            <a:endParaRPr lang="en-US" sz="900"/>
          </a:p>
        </p:txBody>
      </p:sp>
      <p:sp>
        <p:nvSpPr>
          <p:cNvPr id="854893488" name="Text 19"/>
          <p:cNvSpPr txBox="1"/>
          <p:nvPr/>
        </p:nvSpPr>
        <p:spPr bwMode="auto">
          <a:xfrm>
            <a:off x="1847088" y="1801367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Rebalance routing — shift 10–15% volume from R3 to R1/R2/R4</a:t>
            </a:r>
            <a:endParaRPr lang="en-US" sz="1050"/>
          </a:p>
        </p:txBody>
      </p:sp>
      <p:sp>
        <p:nvSpPr>
          <p:cNvPr id="1628312887" name="Text 20"/>
          <p:cNvSpPr txBox="1"/>
          <p:nvPr/>
        </p:nvSpPr>
        <p:spPr bwMode="auto">
          <a:xfrm>
            <a:off x="1847088" y="2075688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8FA0AF"/>
                </a:solidFill>
                <a:latin typeface="Calibri"/>
                <a:ea typeface="Calibri"/>
                <a:cs typeface="Calibri"/>
              </a:rPr>
              <a:t>Owner: Head of Payments</a:t>
            </a:r>
            <a:endParaRPr lang="en-US" sz="850"/>
          </a:p>
        </p:txBody>
      </p:sp>
      <p:sp>
        <p:nvSpPr>
          <p:cNvPr id="2056848636" name="Text 21"/>
          <p:cNvSpPr txBox="1"/>
          <p:nvPr/>
        </p:nvSpPr>
        <p:spPr bwMode="auto">
          <a:xfrm>
            <a:off x="1847088" y="2240280"/>
            <a:ext cx="5394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750">
                <a:solidFill>
                  <a:srgbClr val="00897B"/>
                </a:solidFill>
                <a:latin typeface="Calibri"/>
                <a:ea typeface="Calibri"/>
                <a:cs typeface="Calibri"/>
              </a:rPr>
              <a:t>✓ R3 share &lt; 30% of successful volume by Day 30</a:t>
            </a:r>
            <a:endParaRPr lang="en-US" sz="750"/>
          </a:p>
        </p:txBody>
      </p:sp>
      <p:sp>
        <p:nvSpPr>
          <p:cNvPr id="1467310129" name="Shape 22"/>
          <p:cNvSpPr/>
          <p:nvPr/>
        </p:nvSpPr>
        <p:spPr bwMode="auto">
          <a:xfrm>
            <a:off x="6053328" y="1801367"/>
            <a:ext cx="2852928" cy="640080"/>
          </a:xfrm>
          <a:prstGeom prst="rect">
            <a:avLst/>
          </a:prstGeom>
          <a:solidFill>
            <a:srgbClr val="0F2233"/>
          </a:solidFill>
          <a:ln/>
        </p:spPr>
      </p:sp>
      <p:sp>
        <p:nvSpPr>
          <p:cNvPr id="1488250887" name="Text 23"/>
          <p:cNvSpPr txBox="1"/>
          <p:nvPr/>
        </p:nvSpPr>
        <p:spPr bwMode="auto">
          <a:xfrm>
            <a:off x="6126480" y="1856232"/>
            <a:ext cx="270662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850">
                <a:solidFill>
                  <a:srgbClr val="F4A31A"/>
                </a:solidFill>
                <a:latin typeface="Calibri"/>
                <a:ea typeface="Calibri"/>
                <a:cs typeface="Calibri"/>
              </a:rPr>
              <a:t>⚠ Lower-cost routes may have lower success rates — monitor closely</a:t>
            </a:r>
            <a:endParaRPr lang="en-US" sz="850"/>
          </a:p>
        </p:txBody>
      </p:sp>
      <p:sp>
        <p:nvSpPr>
          <p:cNvPr id="1924227338" name="Shape 24"/>
          <p:cNvSpPr/>
          <p:nvPr/>
        </p:nvSpPr>
        <p:spPr bwMode="auto">
          <a:xfrm>
            <a:off x="228600" y="2560320"/>
            <a:ext cx="54864" cy="713232"/>
          </a:xfrm>
          <a:prstGeom prst="rect">
            <a:avLst/>
          </a:prstGeom>
          <a:solidFill>
            <a:srgbClr val="F4A31A"/>
          </a:solidFill>
          <a:ln/>
        </p:spPr>
      </p:sp>
      <p:sp>
        <p:nvSpPr>
          <p:cNvPr id="90746789" name="Shape 25"/>
          <p:cNvSpPr/>
          <p:nvPr/>
        </p:nvSpPr>
        <p:spPr bwMode="auto">
          <a:xfrm>
            <a:off x="301752" y="2706624"/>
            <a:ext cx="384048" cy="384048"/>
          </a:xfrm>
          <a:prstGeom prst="ellipse">
            <a:avLst/>
          </a:prstGeom>
          <a:solidFill>
            <a:srgbClr val="F4A31A"/>
          </a:solidFill>
          <a:ln/>
        </p:spPr>
      </p:sp>
      <p:sp>
        <p:nvSpPr>
          <p:cNvPr id="1792739211" name="Text 26"/>
          <p:cNvSpPr txBox="1"/>
          <p:nvPr/>
        </p:nvSpPr>
        <p:spPr bwMode="auto">
          <a:xfrm>
            <a:off x="301752" y="2706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3</a:t>
            </a:r>
            <a:endParaRPr lang="en-US" sz="1200"/>
          </a:p>
        </p:txBody>
      </p:sp>
      <p:sp>
        <p:nvSpPr>
          <p:cNvPr id="667233732" name="Shape 27"/>
          <p:cNvSpPr/>
          <p:nvPr/>
        </p:nvSpPr>
        <p:spPr bwMode="auto">
          <a:xfrm>
            <a:off x="768096" y="2633472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2233"/>
          </a:solidFill>
          <a:ln/>
        </p:spPr>
      </p:sp>
      <p:sp>
        <p:nvSpPr>
          <p:cNvPr id="555034827" name="Text 28"/>
          <p:cNvSpPr txBox="1"/>
          <p:nvPr/>
        </p:nvSpPr>
        <p:spPr bwMode="auto">
          <a:xfrm>
            <a:off x="768096" y="263347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Days 1–45</a:t>
            </a:r>
            <a:endParaRPr lang="en-US" sz="900"/>
          </a:p>
        </p:txBody>
      </p:sp>
      <p:sp>
        <p:nvSpPr>
          <p:cNvPr id="548001300" name="Text 29"/>
          <p:cNvSpPr txBox="1"/>
          <p:nvPr/>
        </p:nvSpPr>
        <p:spPr bwMode="auto">
          <a:xfrm>
            <a:off x="1847088" y="2596896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Fix 8 blocking data pipeline defects (DQ report)</a:t>
            </a:r>
            <a:endParaRPr lang="en-US" sz="1050"/>
          </a:p>
        </p:txBody>
      </p:sp>
      <p:sp>
        <p:nvSpPr>
          <p:cNvPr id="1483382233" name="Text 30"/>
          <p:cNvSpPr txBox="1"/>
          <p:nvPr/>
        </p:nvSpPr>
        <p:spPr bwMode="auto">
          <a:xfrm>
            <a:off x="1847088" y="2871216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8FA0AF"/>
                </a:solidFill>
                <a:latin typeface="Calibri"/>
                <a:ea typeface="Calibri"/>
                <a:cs typeface="Calibri"/>
              </a:rPr>
              <a:t>Owner: Data Head + Payments Engineering</a:t>
            </a:r>
            <a:endParaRPr lang="en-US" sz="850"/>
          </a:p>
        </p:txBody>
      </p:sp>
      <p:sp>
        <p:nvSpPr>
          <p:cNvPr id="220022902" name="Text 31"/>
          <p:cNvSpPr txBox="1"/>
          <p:nvPr/>
        </p:nvSpPr>
        <p:spPr bwMode="auto">
          <a:xfrm>
            <a:off x="1847088" y="3035808"/>
            <a:ext cx="5394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750">
                <a:solidFill>
                  <a:srgbClr val="00897B"/>
                </a:solidFill>
                <a:latin typeface="Calibri"/>
                <a:ea typeface="Calibri"/>
                <a:cs typeface="Calibri"/>
              </a:rPr>
              <a:t>✓ 0 Blocking DQ defects in next monthly profile run</a:t>
            </a:r>
            <a:endParaRPr lang="en-US" sz="750"/>
          </a:p>
        </p:txBody>
      </p:sp>
      <p:sp>
        <p:nvSpPr>
          <p:cNvPr id="2052560038" name="Shape 32"/>
          <p:cNvSpPr/>
          <p:nvPr/>
        </p:nvSpPr>
        <p:spPr bwMode="auto">
          <a:xfrm>
            <a:off x="6053328" y="2596896"/>
            <a:ext cx="2852928" cy="640080"/>
          </a:xfrm>
          <a:prstGeom prst="rect">
            <a:avLst/>
          </a:prstGeom>
          <a:solidFill>
            <a:srgbClr val="0F2233"/>
          </a:solidFill>
          <a:ln/>
        </p:spPr>
      </p:sp>
      <p:sp>
        <p:nvSpPr>
          <p:cNvPr id="1810273324" name="Text 33"/>
          <p:cNvSpPr txBox="1"/>
          <p:nvPr/>
        </p:nvSpPr>
        <p:spPr bwMode="auto">
          <a:xfrm>
            <a:off x="6126480" y="2651760"/>
            <a:ext cx="270662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850">
                <a:solidFill>
                  <a:srgbClr val="F4A31A"/>
                </a:solidFill>
                <a:latin typeface="Calibri"/>
                <a:ea typeface="Calibri"/>
                <a:cs typeface="Calibri"/>
              </a:rPr>
              <a:t>⚠ Engineering bandwidth; prioritise D09/D10/D16 first</a:t>
            </a:r>
            <a:endParaRPr lang="en-US" sz="850"/>
          </a:p>
        </p:txBody>
      </p:sp>
      <p:sp>
        <p:nvSpPr>
          <p:cNvPr id="1862754161" name="Shape 34"/>
          <p:cNvSpPr/>
          <p:nvPr/>
        </p:nvSpPr>
        <p:spPr bwMode="auto">
          <a:xfrm>
            <a:off x="228600" y="3355848"/>
            <a:ext cx="54864" cy="713232"/>
          </a:xfrm>
          <a:prstGeom prst="rect">
            <a:avLst/>
          </a:prstGeom>
          <a:solidFill>
            <a:srgbClr val="F4A31A"/>
          </a:solidFill>
          <a:ln/>
        </p:spPr>
      </p:sp>
      <p:sp>
        <p:nvSpPr>
          <p:cNvPr id="146111115" name="Shape 35"/>
          <p:cNvSpPr/>
          <p:nvPr/>
        </p:nvSpPr>
        <p:spPr bwMode="auto">
          <a:xfrm>
            <a:off x="301752" y="3502152"/>
            <a:ext cx="384048" cy="384048"/>
          </a:xfrm>
          <a:prstGeom prst="ellipse">
            <a:avLst/>
          </a:prstGeom>
          <a:solidFill>
            <a:srgbClr val="F4A31A"/>
          </a:solidFill>
          <a:ln/>
        </p:spPr>
      </p:sp>
      <p:sp>
        <p:nvSpPr>
          <p:cNvPr id="1883007768" name="Text 36"/>
          <p:cNvSpPr txBox="1"/>
          <p:nvPr/>
        </p:nvSpPr>
        <p:spPr bwMode="auto">
          <a:xfrm>
            <a:off x="301752" y="35021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</a:t>
            </a:r>
            <a:endParaRPr lang="en-US" sz="1200"/>
          </a:p>
        </p:txBody>
      </p:sp>
      <p:sp>
        <p:nvSpPr>
          <p:cNvPr id="621262898" name="Shape 37"/>
          <p:cNvSpPr/>
          <p:nvPr/>
        </p:nvSpPr>
        <p:spPr bwMode="auto">
          <a:xfrm>
            <a:off x="768096" y="3429000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2233"/>
          </a:solidFill>
          <a:ln/>
        </p:spPr>
      </p:sp>
      <p:sp>
        <p:nvSpPr>
          <p:cNvPr id="20455733" name="Text 38"/>
          <p:cNvSpPr txBox="1"/>
          <p:nvPr/>
        </p:nvSpPr>
        <p:spPr bwMode="auto">
          <a:xfrm>
            <a:off x="768096" y="342900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Days 20–60</a:t>
            </a:r>
            <a:endParaRPr lang="en-US" sz="900"/>
          </a:p>
        </p:txBody>
      </p:sp>
      <p:sp>
        <p:nvSpPr>
          <p:cNvPr id="768841029" name="Text 39"/>
          <p:cNvSpPr txBox="1"/>
          <p:nvPr/>
        </p:nvSpPr>
        <p:spPr bwMode="auto">
          <a:xfrm>
            <a:off x="1847088" y="3392424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Dispute prevention programme for Electronics &amp; Digital Goods</a:t>
            </a:r>
            <a:endParaRPr lang="en-US" sz="1050"/>
          </a:p>
        </p:txBody>
      </p:sp>
      <p:sp>
        <p:nvSpPr>
          <p:cNvPr id="1638085971" name="Text 40"/>
          <p:cNvSpPr txBox="1"/>
          <p:nvPr/>
        </p:nvSpPr>
        <p:spPr bwMode="auto">
          <a:xfrm>
            <a:off x="1847088" y="3666744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8FA0AF"/>
                </a:solidFill>
                <a:latin typeface="Calibri"/>
                <a:ea typeface="Calibri"/>
                <a:cs typeface="Calibri"/>
              </a:rPr>
              <a:t>Owner: Risk Head + Merchant Success</a:t>
            </a:r>
            <a:endParaRPr lang="en-US" sz="850"/>
          </a:p>
        </p:txBody>
      </p:sp>
      <p:sp>
        <p:nvSpPr>
          <p:cNvPr id="1188949584" name="Text 41"/>
          <p:cNvSpPr txBox="1"/>
          <p:nvPr/>
        </p:nvSpPr>
        <p:spPr bwMode="auto">
          <a:xfrm>
            <a:off x="1847088" y="3831336"/>
            <a:ext cx="5394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750">
                <a:solidFill>
                  <a:srgbClr val="00897B"/>
                </a:solidFill>
                <a:latin typeface="Calibri"/>
                <a:ea typeface="Calibri"/>
                <a:cs typeface="Calibri"/>
              </a:rPr>
              <a:t>✓ Chargeback rate for Electronics ≤ baseline (Jan 2025 level)</a:t>
            </a:r>
            <a:endParaRPr lang="en-US" sz="750"/>
          </a:p>
        </p:txBody>
      </p:sp>
      <p:sp>
        <p:nvSpPr>
          <p:cNvPr id="512590648" name="Shape 42"/>
          <p:cNvSpPr/>
          <p:nvPr/>
        </p:nvSpPr>
        <p:spPr bwMode="auto">
          <a:xfrm>
            <a:off x="6053328" y="3392424"/>
            <a:ext cx="2852928" cy="640080"/>
          </a:xfrm>
          <a:prstGeom prst="rect">
            <a:avLst/>
          </a:prstGeom>
          <a:solidFill>
            <a:srgbClr val="0F2233"/>
          </a:solidFill>
          <a:ln/>
        </p:spPr>
      </p:sp>
      <p:sp>
        <p:nvSpPr>
          <p:cNvPr id="772721605" name="Text 43"/>
          <p:cNvSpPr txBox="1"/>
          <p:nvPr/>
        </p:nvSpPr>
        <p:spPr bwMode="auto">
          <a:xfrm>
            <a:off x="6126480" y="3447288"/>
            <a:ext cx="270662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850">
                <a:solidFill>
                  <a:srgbClr val="F4A31A"/>
                </a:solidFill>
                <a:latin typeface="Calibri"/>
                <a:ea typeface="Calibri"/>
                <a:cs typeface="Calibri"/>
              </a:rPr>
              <a:t>⚠ Chargebacks have 60-day lag — results visible in 90 days</a:t>
            </a:r>
            <a:endParaRPr lang="en-US" sz="850"/>
          </a:p>
        </p:txBody>
      </p:sp>
      <p:sp>
        <p:nvSpPr>
          <p:cNvPr id="447353757" name="Shape 44"/>
          <p:cNvSpPr/>
          <p:nvPr/>
        </p:nvSpPr>
        <p:spPr bwMode="auto">
          <a:xfrm>
            <a:off x="228600" y="4151376"/>
            <a:ext cx="54864" cy="71323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670408339" name="Shape 45"/>
          <p:cNvSpPr/>
          <p:nvPr/>
        </p:nvSpPr>
        <p:spPr bwMode="auto">
          <a:xfrm>
            <a:off x="301752" y="4297680"/>
            <a:ext cx="384048" cy="384048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219078740" name="Text 46"/>
          <p:cNvSpPr txBox="1"/>
          <p:nvPr/>
        </p:nvSpPr>
        <p:spPr bwMode="auto">
          <a:xfrm>
            <a:off x="301752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5</a:t>
            </a:r>
            <a:endParaRPr lang="en-US" sz="1200"/>
          </a:p>
        </p:txBody>
      </p:sp>
      <p:sp>
        <p:nvSpPr>
          <p:cNvPr id="1382640492" name="Shape 47"/>
          <p:cNvSpPr/>
          <p:nvPr/>
        </p:nvSpPr>
        <p:spPr bwMode="auto">
          <a:xfrm>
            <a:off x="768096" y="4224528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2233"/>
          </a:solidFill>
          <a:ln/>
        </p:spPr>
      </p:sp>
      <p:sp>
        <p:nvSpPr>
          <p:cNvPr id="374201551" name="Text 48"/>
          <p:cNvSpPr txBox="1"/>
          <p:nvPr/>
        </p:nvSpPr>
        <p:spPr bwMode="auto">
          <a:xfrm>
            <a:off x="768096" y="422452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Days 30–60</a:t>
            </a:r>
            <a:endParaRPr lang="en-US" sz="900"/>
          </a:p>
        </p:txBody>
      </p:sp>
      <p:sp>
        <p:nvSpPr>
          <p:cNvPr id="650616833" name="Text 49"/>
          <p:cNvSpPr txBox="1"/>
          <p:nvPr/>
        </p:nvSpPr>
        <p:spPr bwMode="auto">
          <a:xfrm>
            <a:off x="1847088" y="4187952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Review fraud model v4.0-beta; evaluate rollback for High-risk tier</a:t>
            </a:r>
            <a:endParaRPr lang="en-US" sz="1050"/>
          </a:p>
        </p:txBody>
      </p:sp>
      <p:sp>
        <p:nvSpPr>
          <p:cNvPr id="1386824115" name="Text 50"/>
          <p:cNvSpPr txBox="1"/>
          <p:nvPr/>
        </p:nvSpPr>
        <p:spPr bwMode="auto">
          <a:xfrm>
            <a:off x="1847088" y="4462272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850">
                <a:solidFill>
                  <a:srgbClr val="8FA0AF"/>
                </a:solidFill>
                <a:latin typeface="Calibri"/>
                <a:ea typeface="Calibri"/>
                <a:cs typeface="Calibri"/>
              </a:rPr>
              <a:t>Owner: Risk Head</a:t>
            </a:r>
            <a:endParaRPr lang="en-US" sz="850"/>
          </a:p>
        </p:txBody>
      </p:sp>
      <p:sp>
        <p:nvSpPr>
          <p:cNvPr id="1271806048" name="Text 51"/>
          <p:cNvSpPr txBox="1"/>
          <p:nvPr/>
        </p:nvSpPr>
        <p:spPr bwMode="auto">
          <a:xfrm>
            <a:off x="1847088" y="4626864"/>
            <a:ext cx="5394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750">
                <a:solidFill>
                  <a:srgbClr val="00897B"/>
                </a:solidFill>
                <a:latin typeface="Calibri"/>
                <a:ea typeface="Calibri"/>
                <a:cs typeface="Calibri"/>
              </a:rPr>
              <a:t>✓ High-risk decline rate returning to &lt;10% with no fraud rate increase</a:t>
            </a:r>
            <a:endParaRPr lang="en-US" sz="750"/>
          </a:p>
        </p:txBody>
      </p:sp>
      <p:sp>
        <p:nvSpPr>
          <p:cNvPr id="293138996" name="Shape 52"/>
          <p:cNvSpPr/>
          <p:nvPr/>
        </p:nvSpPr>
        <p:spPr bwMode="auto">
          <a:xfrm>
            <a:off x="6053328" y="4187952"/>
            <a:ext cx="2852928" cy="640080"/>
          </a:xfrm>
          <a:prstGeom prst="rect">
            <a:avLst/>
          </a:prstGeom>
          <a:solidFill>
            <a:srgbClr val="0F2233"/>
          </a:solidFill>
          <a:ln/>
        </p:spPr>
      </p:sp>
      <p:sp>
        <p:nvSpPr>
          <p:cNvPr id="21125314" name="Text 53"/>
          <p:cNvSpPr txBox="1"/>
          <p:nvPr/>
        </p:nvSpPr>
        <p:spPr bwMode="auto">
          <a:xfrm>
            <a:off x="6126480" y="4242816"/>
            <a:ext cx="270662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850">
                <a:solidFill>
                  <a:srgbClr val="F4A31A"/>
                </a:solidFill>
                <a:latin typeface="Calibri"/>
                <a:ea typeface="Calibri"/>
                <a:cs typeface="Calibri"/>
              </a:rPr>
              <a:t>⚠ Rolling back may increase actual fraud — needs A/B test not a full rollback</a:t>
            </a:r>
            <a:endParaRPr lang="en-US" sz="850"/>
          </a:p>
        </p:txBody>
      </p:sp>
      <p:sp>
        <p:nvSpPr>
          <p:cNvPr id="1207277482" name="Shape 54"/>
          <p:cNvSpPr/>
          <p:nvPr/>
        </p:nvSpPr>
        <p:spPr bwMode="auto">
          <a:xfrm>
            <a:off x="0" y="4828032"/>
            <a:ext cx="9144000" cy="310896"/>
          </a:xfrm>
          <a:prstGeom prst="rect">
            <a:avLst/>
          </a:prstGeom>
          <a:solidFill>
            <a:srgbClr val="060E18"/>
          </a:solidFill>
          <a:ln/>
        </p:spPr>
      </p:sp>
      <p:sp>
        <p:nvSpPr>
          <p:cNvPr id="581368139" name="Text 55"/>
          <p:cNvSpPr txBox="1"/>
          <p:nvPr/>
        </p:nvSpPr>
        <p:spPr bwMode="auto">
          <a:xfrm>
            <a:off x="274320" y="4846320"/>
            <a:ext cx="8595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800" b="1">
                <a:solidFill>
                  <a:srgbClr val="00897B"/>
                </a:solidFill>
                <a:latin typeface="Calibri"/>
                <a:ea typeface="Calibri"/>
                <a:cs typeface="Calibri"/>
              </a:rPr>
              <a:t>Data trust (DQ fixes) must be resolved before next reporting cycle — without it, none of these actions can be measured reliably.</a:t>
            </a:r>
            <a:endParaRPr lang="en-US" sz="8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5</Slides>
  <Notes>5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6" baseType="lpstr">
      <vt:lpstr>Theme 1</vt:lpstr>
      <vt:lpstr>Slide 1</vt:lpstr>
      <vt:lpstr>Slide 2</vt:lpstr>
      <vt:lpstr>Slide 3</vt:lpstr>
      <vt:lpstr>Slide 4</vt:lpstr>
      <vt:lpstr>Slide 5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/>
  <cp:revision>2</cp:revision>
  <dcterms:created xsi:type="dcterms:W3CDTF">2026-09-15T11:12:38Z</dcterms:created>
  <dcterms:modified xsi:type="dcterms:W3CDTF">2026-09-16T06:33:37Z</dcterms:modified>
</cp:coreProperties>
</file>